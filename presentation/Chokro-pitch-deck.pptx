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Say the name, then the one-line promise: today, doing the right thing with your rubbish returns nothing to you. Chokro makes it pay — but only when the app can prove it happened. Two halves: verified disposal, and a marketplace where the reward gets spent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sentences per column, no more. Left: the behaviour is invisible, so it cannot be reinforced in a person or counted by a city. Right: being handmade is a disadvantage instead of the point. The punchline is the line at the bottom — these two are always treated as separate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circle with your hand while you say it. Dispose, earn, spend with a green entrepreneur, earn again — and the branch off the ring is giving points to an initiative instead of spending them. One wallet, every point tagged with where it came from. If they remember one slide, make it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slide — run the real thing here if you can. Four taps, thirty seconds, standing at a bin. The rate matters to a non-technical audience: one disposal is about five taka of spending power, and points are spent in tens so the ledger always reconciles.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the slide that separates Chokro from a loyalty app. Say the five in order, one breath each. Then land the closing line twice if you have to: it fails toward review, never toward payout. A sponsor is funding a reward pool; this is what protects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commercial half. Emphasise that points never replace money — at most half a bill — so a Greenpreneur always takes real income from a sale. And the loop closes here: confirming delivery credits 5% back in points, which is why this is a cycle. Reward values are admin-tunable, so a pilot can be tuned without a new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honesty panel out loud rather than letting them read it. Volunteering the limitation early is what makes the rest of the deck credible — the payment journeys are complete but simulated, and no real money moves in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 is orientation, not the pitch. The point that matters technically: switching profile changes the workspace, never the permission. Authorisation is always checked against the stored role on the server, so a switched view can hide capability but never create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exist to answer one silent question: is this real or a mock-up? Do not read them all — point at 1,130 tests and say the loop is verified by machine, not by hope. Then say the honest word: prototype. What is proven is that the cycle closes end to end in one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one row that matches who is in the room and spend your time there. For a sponsor: rewards are only paid against evidence, and the ledger means every taka is traceable to a verified action. For a city: this is disposal data attributed to people, which they currently cannot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next step as a pilot, not a feature list — that is what a sponsor is being asked to fund. Then read the honest boundary. Claiming less than you can prove is the reason people believe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asks and stop talking. Bins to label, a first cohort of makers, and money for the reward pool and running costs — nothing for engineering, because that part is done. Then hand over your contact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1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658368"/>
            <a:ext cx="566928" cy="566928"/>
          </a:xfrm>
          <a:prstGeom prst="rect">
            <a:avLst/>
          </a:prstGeom>
        </p:spPr>
      </p:pic>
      <p:sp>
        <p:nvSpPr>
          <p:cNvPr id="3" name="Text 0"/>
          <p:cNvSpPr txBox="1"/>
          <p:nvPr/>
        </p:nvSpPr>
        <p:spPr>
          <a:xfrm>
            <a:off x="1371600" y="658368"/>
            <a:ext cx="3657600" cy="320040"/>
          </a:xfrm>
          <a:prstGeom prst="rect">
            <a:avLst/>
          </a:prstGeom>
          <a:noFill/>
          <a:ln/>
        </p:spPr>
        <p:txBody>
          <a:bodyPr wrap="square" lIns="0" tIns="0" rIns="0" bIns="0" rtlCol="0" anchor="t"/>
          <a:lstStyle/>
          <a:p>
            <a:pPr indent="0" marL="0">
              <a:buNone/>
            </a:pPr>
            <a:r>
              <a:rPr lang="en-US" sz="2000" b="1" dirty="0">
                <a:solidFill>
                  <a:srgbClr val="F7FAF8"/>
                </a:solidFill>
                <a:latin typeface="Cambria" pitchFamily="34" charset="0"/>
                <a:ea typeface="Cambria" pitchFamily="34" charset="-122"/>
                <a:cs typeface="Cambria" pitchFamily="34" charset="-120"/>
              </a:rPr>
              <a:t>Chokro</a:t>
            </a:r>
            <a:endParaRPr lang="en-US" sz="2000" dirty="0"/>
          </a:p>
        </p:txBody>
      </p:sp>
      <p:sp>
        <p:nvSpPr>
          <p:cNvPr id="4" name="Text 1"/>
          <p:cNvSpPr txBox="1"/>
          <p:nvPr/>
        </p:nvSpPr>
        <p:spPr>
          <a:xfrm>
            <a:off x="1371600" y="969264"/>
            <a:ext cx="3657600" cy="274320"/>
          </a:xfrm>
          <a:prstGeom prst="rect">
            <a:avLst/>
          </a:prstGeom>
          <a:noFill/>
          <a:ln/>
        </p:spPr>
        <p:txBody>
          <a:bodyPr wrap="square" lIns="0" tIns="0" rIns="0" bIns="0" rtlCol="0" anchor="t"/>
          <a:lstStyle/>
          <a:p>
            <a:pPr indent="0" marL="0">
              <a:buNone/>
            </a:pPr>
            <a:r>
              <a:rPr lang="en-US" sz="1050" b="1" spc="240" kern="0" dirty="0">
                <a:solidFill>
                  <a:srgbClr val="1FA97A"/>
                </a:solidFill>
                <a:latin typeface="Calibri" pitchFamily="34" charset="0"/>
                <a:ea typeface="Calibri" pitchFamily="34" charset="-122"/>
                <a:cs typeface="Calibri" pitchFamily="34" charset="-120"/>
              </a:rPr>
              <a:t>THE CYCLE</a:t>
            </a:r>
            <a:endParaRPr lang="en-US" sz="1050" dirty="0"/>
          </a:p>
        </p:txBody>
      </p:sp>
      <p:sp>
        <p:nvSpPr>
          <p:cNvPr id="5" name="Text 2"/>
          <p:cNvSpPr txBox="1"/>
          <p:nvPr/>
        </p:nvSpPr>
        <p:spPr>
          <a:xfrm>
            <a:off x="685800" y="1920240"/>
            <a:ext cx="8412480" cy="1920240"/>
          </a:xfrm>
          <a:prstGeom prst="rect">
            <a:avLst/>
          </a:prstGeom>
          <a:noFill/>
          <a:ln/>
        </p:spPr>
        <p:txBody>
          <a:bodyPr wrap="square" lIns="0" tIns="0" rIns="0" bIns="0" rtlCol="0" anchor="t"/>
          <a:lstStyle/>
          <a:p>
            <a:pPr indent="0" marL="0">
              <a:lnSpc>
                <a:spcPct val="100000"/>
              </a:lnSpc>
              <a:buNone/>
            </a:pPr>
            <a:r>
              <a:rPr lang="en-US" sz="4000" b="1" dirty="0">
                <a:solidFill>
                  <a:srgbClr val="F7FAF8"/>
                </a:solidFill>
                <a:latin typeface="Cambria" pitchFamily="34" charset="0"/>
                <a:ea typeface="Cambria" pitchFamily="34" charset="-122"/>
                <a:cs typeface="Cambria" pitchFamily="34" charset="-120"/>
              </a:rPr>
              <a:t>Doing the right thing with your waste should pay you back.</a:t>
            </a:r>
            <a:endParaRPr lang="en-US" sz="4000" dirty="0"/>
          </a:p>
        </p:txBody>
      </p:sp>
      <p:sp>
        <p:nvSpPr>
          <p:cNvPr id="6" name="Text 3"/>
          <p:cNvSpPr txBox="1"/>
          <p:nvPr/>
        </p:nvSpPr>
        <p:spPr>
          <a:xfrm>
            <a:off x="685800" y="4069080"/>
            <a:ext cx="6949440" cy="1005840"/>
          </a:xfrm>
          <a:prstGeom prst="rect">
            <a:avLst/>
          </a:prstGeom>
          <a:noFill/>
          <a:ln/>
        </p:spPr>
        <p:txBody>
          <a:bodyPr wrap="square" lIns="0" tIns="0" rIns="0" bIns="0" rtlCol="0" anchor="t"/>
          <a:lstStyle/>
          <a:p>
            <a:pPr indent="0" marL="0">
              <a:lnSpc>
                <a:spcPct val="120000"/>
              </a:lnSpc>
              <a:buNone/>
            </a:pPr>
            <a:r>
              <a:rPr lang="en-US" sz="1500" dirty="0">
                <a:solidFill>
                  <a:srgbClr val="C7D6CF"/>
                </a:solidFill>
                <a:latin typeface="Calibri" pitchFamily="34" charset="0"/>
                <a:ea typeface="Calibri" pitchFamily="34" charset="-122"/>
                <a:cs typeface="Calibri" pitchFamily="34" charset="-120"/>
              </a:rPr>
              <a:t>A rewards loop for correct waste disposal that only pays against verified evidence — and a marketplace where those rewards are spent with local green entrepreneurs.</a:t>
            </a:r>
            <a:endParaRPr lang="en-US" sz="1500" dirty="0"/>
          </a:p>
        </p:txBody>
      </p:sp>
      <p:sp>
        <p:nvSpPr>
          <p:cNvPr id="7" name="Text 4"/>
          <p:cNvSpPr txBox="1"/>
          <p:nvPr/>
        </p:nvSpPr>
        <p:spPr>
          <a:xfrm>
            <a:off x="685800" y="5852160"/>
            <a:ext cx="10820095" cy="320040"/>
          </a:xfrm>
          <a:prstGeom prst="rect">
            <a:avLst/>
          </a:prstGeom>
          <a:noFill/>
          <a:ln/>
        </p:spPr>
        <p:txBody>
          <a:bodyPr wrap="square" lIns="0" tIns="0" rIns="0" bIns="0" rtlCol="0" anchor="ctr"/>
          <a:lstStyle/>
          <a:p>
            <a:pPr indent="0" marL="0">
              <a:buNone/>
            </a:pPr>
            <a:r>
              <a:rPr lang="en-US" sz="1100" b="1" spc="140" kern="0" dirty="0">
                <a:solidFill>
                  <a:srgbClr val="F7FAF8"/>
                </a:solidFill>
                <a:latin typeface="Calibri" pitchFamily="34" charset="0"/>
                <a:ea typeface="Calibri" pitchFamily="34" charset="-122"/>
                <a:cs typeface="Calibri" pitchFamily="34" charset="-120"/>
              </a:rPr>
              <a:t>ARNISH</a:t>
            </a:r>
            <a:pPr indent="0" marL="0">
              <a:buNone/>
            </a:pPr>
            <a:r>
              <a:rPr lang="en-US" sz="1100" spc="140" kern="0" dirty="0">
                <a:solidFill>
                  <a:srgbClr val="9BB0A6"/>
                </a:solidFill>
                <a:latin typeface="Calibri" pitchFamily="34" charset="0"/>
                <a:ea typeface="Calibri" pitchFamily="34" charset="-122"/>
                <a:cs typeface="Calibri" pitchFamily="34" charset="-120"/>
              </a:rPr>
              <a:t>     LAMPPOST     </a:t>
            </a:r>
            <a:pPr indent="0" marL="0">
              <a:buNone/>
            </a:pPr>
            <a:r>
              <a:rPr lang="en-US" sz="1100" spc="140" kern="0" dirty="0">
                <a:solidFill>
                  <a:srgbClr val="9BB0A6"/>
                </a:solidFill>
                <a:latin typeface="Calibri" pitchFamily="34" charset="0"/>
                <a:ea typeface="Calibri" pitchFamily="34" charset="-122"/>
                <a:cs typeface="Calibri" pitchFamily="34" charset="-120"/>
              </a:rPr>
              <a:t>ARNISH@LAMPPOST.ORG.BD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THE PROBLEM</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2900" b="1" dirty="0">
                <a:solidFill>
                  <a:srgbClr val="0B1410"/>
                </a:solidFill>
                <a:latin typeface="Cambria" pitchFamily="34" charset="0"/>
                <a:ea typeface="Cambria" pitchFamily="34" charset="-122"/>
                <a:cs typeface="Cambria" pitchFamily="34" charset="-120"/>
              </a:rPr>
              <a:t>Two problems sit next to each other, and nobody solves them together.</a:t>
            </a:r>
            <a:endParaRPr lang="en-US" sz="2900" dirty="0"/>
          </a:p>
        </p:txBody>
      </p:sp>
      <p:sp>
        <p:nvSpPr>
          <p:cNvPr id="4" name="Shape 2"/>
          <p:cNvSpPr/>
          <p:nvPr/>
        </p:nvSpPr>
        <p:spPr>
          <a:xfrm>
            <a:off x="685800" y="2103120"/>
            <a:ext cx="10820095" cy="10058"/>
          </a:xfrm>
          <a:prstGeom prst="rect">
            <a:avLst/>
          </a:prstGeom>
          <a:solidFill>
            <a:srgbClr val="D7E2DB"/>
          </a:solidFill>
          <a:ln/>
        </p:spPr>
      </p:sp>
      <p:sp>
        <p:nvSpPr>
          <p:cNvPr id="5" name="Text 3"/>
          <p:cNvSpPr txBox="1"/>
          <p:nvPr/>
        </p:nvSpPr>
        <p:spPr>
          <a:xfrm>
            <a:off x="685800" y="2286000"/>
            <a:ext cx="5074920" cy="320040"/>
          </a:xfrm>
          <a:prstGeom prst="rect">
            <a:avLst/>
          </a:prstGeom>
          <a:noFill/>
          <a:ln/>
        </p:spPr>
        <p:txBody>
          <a:bodyPr wrap="square" lIns="0" tIns="0" rIns="0" bIns="0" rtlCol="0" anchor="t"/>
          <a:lstStyle/>
          <a:p>
            <a:pPr indent="0" marL="0">
              <a:buNone/>
            </a:pPr>
            <a:r>
              <a:rPr lang="en-US" sz="1500" b="1" dirty="0">
                <a:solidFill>
                  <a:srgbClr val="0B1410"/>
                </a:solidFill>
                <a:latin typeface="Cambria" pitchFamily="34" charset="0"/>
                <a:ea typeface="Cambria" pitchFamily="34" charset="-122"/>
                <a:cs typeface="Cambria" pitchFamily="34" charset="-120"/>
              </a:rPr>
              <a:t>The person who does it right</a:t>
            </a:r>
            <a:endParaRPr lang="en-US" sz="1500" dirty="0"/>
          </a:p>
        </p:txBody>
      </p:sp>
      <p:sp>
        <p:nvSpPr>
          <p:cNvPr id="6" name="Text 4"/>
          <p:cNvSpPr txBox="1"/>
          <p:nvPr/>
        </p:nvSpPr>
        <p:spPr>
          <a:xfrm>
            <a:off x="685800" y="2697480"/>
            <a:ext cx="5074920" cy="2194560"/>
          </a:xfrm>
          <a:prstGeom prst="rect">
            <a:avLst/>
          </a:prstGeom>
          <a:noFill/>
          <a:ln/>
        </p:spPr>
        <p:txBody>
          <a:bodyPr wrap="square" lIns="0" tIns="0" rIns="0" bIns="0" rtlCol="0" anchor="t"/>
          <a:lstStyle/>
          <a:p>
            <a:pPr marL="342900" indent="-342900">
              <a:lnSpc>
                <a:spcPct val="116000"/>
              </a:lnSpc>
              <a:spcAft>
                <a:spcPts val="800"/>
              </a:spcAft>
              <a:buSzPct val="100000"/>
              <a:buChar char="•"/>
            </a:pPr>
            <a:r>
              <a:rPr lang="en-US" sz="1250" dirty="0">
                <a:solidFill>
                  <a:srgbClr val="0B1410"/>
                </a:solidFill>
                <a:latin typeface="Calibri" pitchFamily="34" charset="0"/>
                <a:ea typeface="Calibri" pitchFamily="34" charset="-122"/>
                <a:cs typeface="Calibri" pitchFamily="34" charset="-120"/>
              </a:rPr>
              <a:t>Bangladesh throws out 25,000–30,000 tonnes of waste a day — and only 45–50% of urban waste is formally collected.</a:t>
            </a:r>
            <a:endParaRPr lang="en-US" sz="1250" dirty="0"/>
          </a:p>
          <a:p>
            <a:pPr marL="342900" indent="-342900">
              <a:lnSpc>
                <a:spcPct val="116000"/>
              </a:lnSpc>
              <a:spcAft>
                <a:spcPts val="800"/>
              </a:spcAft>
              <a:buSzPct val="100000"/>
              <a:buChar char="•"/>
            </a:pPr>
            <a:r>
              <a:rPr lang="en-US" sz="1250" dirty="0">
                <a:solidFill>
                  <a:srgbClr val="0B1410"/>
                </a:solidFill>
                <a:latin typeface="Calibri" pitchFamily="34" charset="0"/>
                <a:ea typeface="Calibri" pitchFamily="34" charset="-122"/>
                <a:cs typeface="Calibri" pitchFamily="34" charset="-120"/>
              </a:rPr>
              <a:t>Around 100,000 people in Dhaka alone make a living picking through it.</a:t>
            </a:r>
            <a:endParaRPr lang="en-US" sz="1250" dirty="0"/>
          </a:p>
          <a:p>
            <a:pPr marL="342900" indent="-342900">
              <a:lnSpc>
                <a:spcPct val="116000"/>
              </a:lnSpc>
              <a:buSzPct val="100000"/>
              <a:buChar char="•"/>
            </a:pPr>
            <a:r>
              <a:rPr lang="en-US" sz="1250" dirty="0">
                <a:solidFill>
                  <a:srgbClr val="0B1410"/>
                </a:solidFill>
                <a:latin typeface="Calibri" pitchFamily="34" charset="0"/>
                <a:ea typeface="Calibri" pitchFamily="34" charset="-122"/>
                <a:cs typeface="Calibri" pitchFamily="34" charset="-120"/>
              </a:rPr>
              <a:t>Someone who separates their recyclables and carries them to the right bin gets nothing back. No record, no proof, no reward.</a:t>
            </a:r>
            <a:endParaRPr lang="en-US" sz="1250" dirty="0"/>
          </a:p>
        </p:txBody>
      </p:sp>
      <p:sp>
        <p:nvSpPr>
          <p:cNvPr id="7" name="Text 5"/>
          <p:cNvSpPr txBox="1"/>
          <p:nvPr/>
        </p:nvSpPr>
        <p:spPr>
          <a:xfrm>
            <a:off x="6428232" y="2286000"/>
            <a:ext cx="5074920" cy="320040"/>
          </a:xfrm>
          <a:prstGeom prst="rect">
            <a:avLst/>
          </a:prstGeom>
          <a:noFill/>
          <a:ln/>
        </p:spPr>
        <p:txBody>
          <a:bodyPr wrap="square" lIns="0" tIns="0" rIns="0" bIns="0" rtlCol="0" anchor="t"/>
          <a:lstStyle/>
          <a:p>
            <a:pPr indent="0" marL="0">
              <a:buNone/>
            </a:pPr>
            <a:r>
              <a:rPr lang="en-US" sz="1500" b="1" dirty="0">
                <a:solidFill>
                  <a:srgbClr val="0B1410"/>
                </a:solidFill>
                <a:latin typeface="Cambria" pitchFamily="34" charset="0"/>
                <a:ea typeface="Cambria" pitchFamily="34" charset="-122"/>
                <a:cs typeface="Cambria" pitchFamily="34" charset="-120"/>
              </a:rPr>
              <a:t>The person making something better</a:t>
            </a:r>
            <a:endParaRPr lang="en-US" sz="1500" dirty="0"/>
          </a:p>
        </p:txBody>
      </p:sp>
      <p:sp>
        <p:nvSpPr>
          <p:cNvPr id="8" name="Text 6"/>
          <p:cNvSpPr txBox="1"/>
          <p:nvPr/>
        </p:nvSpPr>
        <p:spPr>
          <a:xfrm>
            <a:off x="6428232" y="2697480"/>
            <a:ext cx="5074920" cy="2194560"/>
          </a:xfrm>
          <a:prstGeom prst="rect">
            <a:avLst/>
          </a:prstGeom>
          <a:noFill/>
          <a:ln/>
        </p:spPr>
        <p:txBody>
          <a:bodyPr wrap="square" lIns="0" tIns="0" rIns="0" bIns="0" rtlCol="0" anchor="t"/>
          <a:lstStyle/>
          <a:p>
            <a:pPr marL="342900" indent="-342900">
              <a:lnSpc>
                <a:spcPct val="116000"/>
              </a:lnSpc>
              <a:spcAft>
                <a:spcPts val="800"/>
              </a:spcAft>
              <a:buSzPct val="100000"/>
              <a:buChar char="•"/>
            </a:pPr>
            <a:r>
              <a:rPr lang="en-US" sz="1250" dirty="0">
                <a:solidFill>
                  <a:srgbClr val="0B1410"/>
                </a:solidFill>
                <a:latin typeface="Calibri" pitchFamily="34" charset="0"/>
                <a:ea typeface="Calibri" pitchFamily="34" charset="-122"/>
                <a:cs typeface="Calibri" pitchFamily="34" charset="-120"/>
              </a:rPr>
              <a:t>Makers of handmade and recycled goods — often home-based, often women — sell through scattered social media pages.</a:t>
            </a:r>
            <a:endParaRPr lang="en-US" sz="1250" dirty="0"/>
          </a:p>
          <a:p>
            <a:pPr marL="342900" indent="-342900">
              <a:lnSpc>
                <a:spcPct val="116000"/>
              </a:lnSpc>
              <a:spcAft>
                <a:spcPts val="800"/>
              </a:spcAft>
              <a:buSzPct val="100000"/>
              <a:buChar char="•"/>
            </a:pPr>
            <a:r>
              <a:rPr lang="en-US" sz="1250" dirty="0">
                <a:solidFill>
                  <a:srgbClr val="0B1410"/>
                </a:solidFill>
                <a:latin typeface="Calibri" pitchFamily="34" charset="0"/>
                <a:ea typeface="Calibri" pitchFamily="34" charset="-122"/>
                <a:cs typeface="Calibri" pitchFamily="34" charset="-120"/>
              </a:rPr>
              <a:t>They compete for attention against mass-produced imports with far better distribution.</a:t>
            </a:r>
            <a:endParaRPr lang="en-US" sz="1250" dirty="0"/>
          </a:p>
          <a:p>
            <a:pPr marL="342900" indent="-342900">
              <a:lnSpc>
                <a:spcPct val="116000"/>
              </a:lnSpc>
              <a:buSzPct val="100000"/>
              <a:buChar char="•"/>
            </a:pPr>
            <a:r>
              <a:rPr lang="en-US" sz="1250" dirty="0">
                <a:solidFill>
                  <a:srgbClr val="0B1410"/>
                </a:solidFill>
                <a:latin typeface="Calibri" pitchFamily="34" charset="0"/>
                <a:ea typeface="Calibri" pitchFamily="34" charset="-122"/>
                <a:cs typeface="Calibri" pitchFamily="34" charset="-120"/>
              </a:rPr>
              <a:t>Two years of happy customers on one page counts for nothing on the next. Reputation is not portable.</a:t>
            </a:r>
            <a:endParaRPr lang="en-US" sz="1250" dirty="0"/>
          </a:p>
        </p:txBody>
      </p:sp>
      <p:sp>
        <p:nvSpPr>
          <p:cNvPr id="9" name="Shape 7"/>
          <p:cNvSpPr/>
          <p:nvPr/>
        </p:nvSpPr>
        <p:spPr>
          <a:xfrm>
            <a:off x="685800" y="5138928"/>
            <a:ext cx="10820095" cy="10058"/>
          </a:xfrm>
          <a:prstGeom prst="rect">
            <a:avLst/>
          </a:prstGeom>
          <a:solidFill>
            <a:srgbClr val="D7E2DB"/>
          </a:solidFill>
          <a:ln/>
        </p:spPr>
      </p:sp>
      <p:sp>
        <p:nvSpPr>
          <p:cNvPr id="10" name="Text 8"/>
          <p:cNvSpPr txBox="1"/>
          <p:nvPr/>
        </p:nvSpPr>
        <p:spPr>
          <a:xfrm>
            <a:off x="685800" y="5349240"/>
            <a:ext cx="7863840" cy="868680"/>
          </a:xfrm>
          <a:prstGeom prst="rect">
            <a:avLst/>
          </a:prstGeom>
          <a:noFill/>
          <a:ln/>
        </p:spPr>
        <p:txBody>
          <a:bodyPr wrap="square" lIns="0" tIns="0" rIns="0" bIns="0" rtlCol="0" anchor="t"/>
          <a:lstStyle/>
          <a:p>
            <a:pPr indent="0" marL="0">
              <a:lnSpc>
                <a:spcPct val="114000"/>
              </a:lnSpc>
              <a:buNone/>
            </a:pPr>
            <a:r>
              <a:rPr lang="en-US" sz="1700" dirty="0">
                <a:solidFill>
                  <a:srgbClr val="0B1410"/>
                </a:solidFill>
                <a:latin typeface="Cambria" pitchFamily="34" charset="0"/>
                <a:ea typeface="Cambria" pitchFamily="34" charset="-122"/>
                <a:cs typeface="Cambria" pitchFamily="34" charset="-120"/>
              </a:rPr>
              <a:t>Waste apps reward disposal. Green marketplaces sell products. Neither one knows the other exists.</a:t>
            </a:r>
            <a:endParaRPr lang="en-US" sz="1700" dirty="0"/>
          </a:p>
        </p:txBody>
      </p:sp>
      <p:sp>
        <p:nvSpPr>
          <p:cNvPr id="11" name="Text 9"/>
          <p:cNvSpPr txBox="1"/>
          <p:nvPr/>
        </p:nvSpPr>
        <p:spPr>
          <a:xfrm>
            <a:off x="8686800" y="5532120"/>
            <a:ext cx="2816352" cy="274320"/>
          </a:xfrm>
          <a:prstGeom prst="rect">
            <a:avLst/>
          </a:prstGeom>
          <a:noFill/>
          <a:ln/>
        </p:spPr>
        <p:txBody>
          <a:bodyPr wrap="square" lIns="0" tIns="0" rIns="0" bIns="0" rtlCol="0" anchor="ctr"/>
          <a:lstStyle/>
          <a:p>
            <a:pPr algn="r" indent="0" marL="0">
              <a:buNone/>
            </a:pPr>
            <a:r>
              <a:rPr lang="en-US" sz="900" spc="80" kern="0" dirty="0">
                <a:solidFill>
                  <a:srgbClr val="5C6C63"/>
                </a:solidFill>
                <a:latin typeface="Calibri" pitchFamily="34" charset="0"/>
                <a:ea typeface="Calibri" pitchFamily="34" charset="-122"/>
                <a:cs typeface="Calibri" pitchFamily="34" charset="-120"/>
              </a:rPr>
              <a:t>FIGURES: LIGHTCASTLE PARTNERS, 2025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410"/>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E4A11B"/>
                </a:solidFill>
                <a:latin typeface="Calibri" pitchFamily="34" charset="0"/>
                <a:ea typeface="Calibri" pitchFamily="34" charset="-122"/>
                <a:cs typeface="Calibri" pitchFamily="34" charset="-120"/>
              </a:rPr>
              <a:t>THE IDEA</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3400" b="1" dirty="0">
                <a:solidFill>
                  <a:srgbClr val="F7FAF8"/>
                </a:solidFill>
                <a:latin typeface="Cambria" pitchFamily="34" charset="0"/>
                <a:ea typeface="Cambria" pitchFamily="34" charset="-122"/>
                <a:cs typeface="Cambria" pitchFamily="34" charset="-120"/>
              </a:rPr>
              <a:t>Chokro means cycle.</a:t>
            </a:r>
            <a:endParaRPr lang="en-US" sz="3400" dirty="0"/>
          </a:p>
        </p:txBody>
      </p:sp>
      <p:sp>
        <p:nvSpPr>
          <p:cNvPr id="4" name="Text 2"/>
          <p:cNvSpPr txBox="1"/>
          <p:nvPr/>
        </p:nvSpPr>
        <p:spPr>
          <a:xfrm>
            <a:off x="685800" y="2148840"/>
            <a:ext cx="4663440" cy="914400"/>
          </a:xfrm>
          <a:prstGeom prst="rect">
            <a:avLst/>
          </a:prstGeom>
          <a:noFill/>
          <a:ln/>
        </p:spPr>
        <p:txBody>
          <a:bodyPr wrap="square" lIns="0" tIns="0" rIns="0" bIns="0" rtlCol="0" anchor="t"/>
          <a:lstStyle/>
          <a:p>
            <a:pPr indent="0" marL="0">
              <a:lnSpc>
                <a:spcPct val="116000"/>
              </a:lnSpc>
              <a:buNone/>
            </a:pPr>
            <a:r>
              <a:rPr lang="en-US" sz="1400" dirty="0">
                <a:solidFill>
                  <a:srgbClr val="DCE8E2"/>
                </a:solidFill>
                <a:latin typeface="Calibri" pitchFamily="34" charset="0"/>
                <a:ea typeface="Calibri" pitchFamily="34" charset="-122"/>
                <a:cs typeface="Calibri" pitchFamily="34" charset="-120"/>
              </a:rPr>
              <a:t>Chokro is the Bengali word for a cycle or wheel. Both halves of this are sustainable behaviour, so both credit the same wallet.</a:t>
            </a:r>
            <a:endParaRPr lang="en-US" sz="1400" dirty="0"/>
          </a:p>
        </p:txBody>
      </p:sp>
      <p:sp>
        <p:nvSpPr>
          <p:cNvPr id="5" name="Text 3"/>
          <p:cNvSpPr txBox="1"/>
          <p:nvPr/>
        </p:nvSpPr>
        <p:spPr>
          <a:xfrm>
            <a:off x="685800" y="3200400"/>
            <a:ext cx="4663440" cy="1737360"/>
          </a:xfrm>
          <a:prstGeom prst="rect">
            <a:avLst/>
          </a:prstGeom>
          <a:noFill/>
          <a:ln/>
        </p:spPr>
        <p:txBody>
          <a:bodyPr wrap="square" lIns="0" tIns="0" rIns="0" bIns="0" rtlCol="0" anchor="t"/>
          <a:lstStyle/>
          <a:p>
            <a:pPr indent="0" marL="0">
              <a:lnSpc>
                <a:spcPct val="116000"/>
              </a:lnSpc>
              <a:buNone/>
            </a:pPr>
            <a:r>
              <a:rPr lang="en-US" sz="1350" dirty="0">
                <a:solidFill>
                  <a:srgbClr val="DCE8E2"/>
                </a:solidFill>
                <a:latin typeface="Calibri" pitchFamily="34" charset="0"/>
                <a:ea typeface="Calibri" pitchFamily="34" charset="-122"/>
                <a:cs typeface="Calibri" pitchFamily="34" charset="-120"/>
              </a:rPr>
              <a:t>The points you earn at a bin get spent on something handmade — and that purchase credits the wallet again. That is what makes this a cycle rather than a pipeline, and it is the one thing to remember from this deck.</a:t>
            </a:r>
            <a:endParaRPr lang="en-US" sz="1350" dirty="0"/>
          </a:p>
        </p:txBody>
      </p:sp>
      <p:pic>
        <p:nvPicPr>
          <p:cNvPr id="6" name="Image 0" descr="preencoded.png">    </p:cNvPr>
          <p:cNvPicPr>
            <a:picLocks noChangeAspect="1"/>
          </p:cNvPicPr>
          <p:nvPr/>
        </p:nvPicPr>
        <p:blipFill>
          <a:blip r:embed="rId1"/>
          <a:stretch>
            <a:fillRect/>
          </a:stretch>
        </p:blipFill>
        <p:spPr>
          <a:xfrm>
            <a:off x="5715000" y="1600200"/>
            <a:ext cx="5852160" cy="3593592"/>
          </a:xfrm>
          <a:prstGeom prst="rect">
            <a:avLst/>
          </a:prstGeom>
        </p:spPr>
      </p:pic>
      <p:sp>
        <p:nvSpPr>
          <p:cNvPr id="7" name="Shape 4"/>
          <p:cNvSpPr/>
          <p:nvPr/>
        </p:nvSpPr>
        <p:spPr>
          <a:xfrm>
            <a:off x="685800" y="5532120"/>
            <a:ext cx="10820095" cy="10058"/>
          </a:xfrm>
          <a:prstGeom prst="rect">
            <a:avLst/>
          </a:prstGeom>
          <a:solidFill>
            <a:srgbClr val="2C3B34"/>
          </a:solidFill>
          <a:ln/>
        </p:spPr>
      </p:sp>
      <p:sp>
        <p:nvSpPr>
          <p:cNvPr id="8" name="Text 5"/>
          <p:cNvSpPr txBox="1"/>
          <p:nvPr/>
        </p:nvSpPr>
        <p:spPr>
          <a:xfrm>
            <a:off x="685800" y="5715000"/>
            <a:ext cx="347472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EARNED AT A BIN</a:t>
            </a:r>
            <a:endParaRPr lang="en-US" sz="1050" dirty="0"/>
          </a:p>
        </p:txBody>
      </p:sp>
      <p:sp>
        <p:nvSpPr>
          <p:cNvPr id="9" name="Text 6"/>
          <p:cNvSpPr txBox="1"/>
          <p:nvPr/>
        </p:nvSpPr>
        <p:spPr>
          <a:xfrm>
            <a:off x="685800" y="6016752"/>
            <a:ext cx="3474720" cy="320040"/>
          </a:xfrm>
          <a:prstGeom prst="rect">
            <a:avLst/>
          </a:prstGeom>
          <a:noFill/>
          <a:ln/>
        </p:spPr>
        <p:txBody>
          <a:bodyPr wrap="square" lIns="0" tIns="0" rIns="0" bIns="0" rtlCol="0" anchor="t"/>
          <a:lstStyle/>
          <a:p>
            <a:pPr indent="0" marL="0">
              <a:buNone/>
            </a:pPr>
            <a:r>
              <a:rPr lang="en-US" sz="1300" b="1" dirty="0">
                <a:solidFill>
                  <a:srgbClr val="E4A11B"/>
                </a:solidFill>
                <a:latin typeface="Calibri" pitchFamily="34" charset="0"/>
                <a:ea typeface="Calibri" pitchFamily="34" charset="-122"/>
                <a:cs typeface="Calibri" pitchFamily="34" charset="-120"/>
              </a:rPr>
              <a:t>50</a:t>
            </a:r>
            <a:pPr indent="0" marL="0">
              <a:buNone/>
            </a:pPr>
            <a:r>
              <a:rPr lang="en-US" sz="1300" dirty="0">
                <a:solidFill>
                  <a:srgbClr val="DCE8E2"/>
                </a:solidFill>
                <a:latin typeface="Calibri" pitchFamily="34" charset="0"/>
                <a:ea typeface="Calibri" pitchFamily="34" charset="-122"/>
                <a:cs typeface="Calibri" pitchFamily="34" charset="-120"/>
              </a:rPr>
              <a:t> points per verified disposal</a:t>
            </a:r>
            <a:endParaRPr lang="en-US" sz="1300" dirty="0"/>
          </a:p>
        </p:txBody>
      </p:sp>
      <p:sp>
        <p:nvSpPr>
          <p:cNvPr id="10" name="Text 7"/>
          <p:cNvSpPr txBox="1"/>
          <p:nvPr/>
        </p:nvSpPr>
        <p:spPr>
          <a:xfrm>
            <a:off x="4297680" y="5715000"/>
            <a:ext cx="347472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EARNED ON A PURCHASE</a:t>
            </a:r>
            <a:endParaRPr lang="en-US" sz="1050" dirty="0"/>
          </a:p>
        </p:txBody>
      </p:sp>
      <p:sp>
        <p:nvSpPr>
          <p:cNvPr id="11" name="Text 8"/>
          <p:cNvSpPr txBox="1"/>
          <p:nvPr/>
        </p:nvSpPr>
        <p:spPr>
          <a:xfrm>
            <a:off x="4297680" y="6016752"/>
            <a:ext cx="3474720" cy="320040"/>
          </a:xfrm>
          <a:prstGeom prst="rect">
            <a:avLst/>
          </a:prstGeom>
          <a:noFill/>
          <a:ln/>
        </p:spPr>
        <p:txBody>
          <a:bodyPr wrap="square" lIns="0" tIns="0" rIns="0" bIns="0" rtlCol="0" anchor="t"/>
          <a:lstStyle/>
          <a:p>
            <a:pPr indent="0" marL="0">
              <a:buNone/>
            </a:pPr>
            <a:r>
              <a:rPr lang="en-US" sz="1300" b="1" dirty="0">
                <a:solidFill>
                  <a:srgbClr val="E4A11B"/>
                </a:solidFill>
                <a:latin typeface="Calibri" pitchFamily="34" charset="0"/>
                <a:ea typeface="Calibri" pitchFamily="34" charset="-122"/>
                <a:cs typeface="Calibri" pitchFamily="34" charset="-120"/>
              </a:rPr>
              <a:t>5%</a:t>
            </a:r>
            <a:pPr indent="0" marL="0">
              <a:buNone/>
            </a:pPr>
            <a:r>
              <a:rPr lang="en-US" sz="1300" dirty="0">
                <a:solidFill>
                  <a:srgbClr val="DCE8E2"/>
                </a:solidFill>
                <a:latin typeface="Calibri" pitchFamily="34" charset="0"/>
                <a:ea typeface="Calibri" pitchFamily="34" charset="-122"/>
                <a:cs typeface="Calibri" pitchFamily="34" charset="-120"/>
              </a:rPr>
              <a:t> of the order, back in points</a:t>
            </a:r>
            <a:endParaRPr lang="en-US" sz="1300" dirty="0"/>
          </a:p>
        </p:txBody>
      </p:sp>
      <p:sp>
        <p:nvSpPr>
          <p:cNvPr id="12" name="Text 9"/>
          <p:cNvSpPr txBox="1"/>
          <p:nvPr/>
        </p:nvSpPr>
        <p:spPr>
          <a:xfrm>
            <a:off x="7909560" y="5715000"/>
            <a:ext cx="347472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SPENT</a:t>
            </a:r>
            <a:endParaRPr lang="en-US" sz="1050" dirty="0"/>
          </a:p>
        </p:txBody>
      </p:sp>
      <p:sp>
        <p:nvSpPr>
          <p:cNvPr id="13" name="Text 10"/>
          <p:cNvSpPr txBox="1"/>
          <p:nvPr/>
        </p:nvSpPr>
        <p:spPr>
          <a:xfrm>
            <a:off x="7909560" y="6016752"/>
            <a:ext cx="3474720" cy="320040"/>
          </a:xfrm>
          <a:prstGeom prst="rect">
            <a:avLst/>
          </a:prstGeom>
          <a:noFill/>
          <a:ln/>
        </p:spPr>
        <p:txBody>
          <a:bodyPr wrap="square" lIns="0" tIns="0" rIns="0" bIns="0" rtlCol="0" anchor="t"/>
          <a:lstStyle/>
          <a:p>
            <a:pPr indent="0" marL="0">
              <a:buNone/>
            </a:pPr>
            <a:r>
              <a:rPr lang="en-US" sz="1300" b="1" dirty="0">
                <a:solidFill>
                  <a:srgbClr val="E4A11B"/>
                </a:solidFill>
                <a:latin typeface="Calibri" pitchFamily="34" charset="0"/>
                <a:ea typeface="Calibri" pitchFamily="34" charset="-122"/>
                <a:cs typeface="Calibri" pitchFamily="34" charset="-120"/>
              </a:rPr>
              <a:t>100</a:t>
            </a:r>
            <a:pPr indent="0" marL="0">
              <a:buNone/>
            </a:pPr>
            <a:r>
              <a:rPr lang="en-US" sz="1300" dirty="0">
                <a:solidFill>
                  <a:srgbClr val="DCE8E2"/>
                </a:solidFill>
                <a:latin typeface="Calibri" pitchFamily="34" charset="0"/>
                <a:ea typeface="Calibri" pitchFamily="34" charset="-122"/>
                <a:cs typeface="Calibri" pitchFamily="34" charset="-120"/>
              </a:rPr>
              <a:t> points = Tk 10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THE EXPERIENCE</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3000" b="1" dirty="0">
                <a:solidFill>
                  <a:srgbClr val="0B1410"/>
                </a:solidFill>
                <a:latin typeface="Cambria" pitchFamily="34" charset="0"/>
                <a:ea typeface="Cambria" pitchFamily="34" charset="-122"/>
                <a:cs typeface="Cambria" pitchFamily="34" charset="-120"/>
              </a:rPr>
              <a:t>Four steps, standing at the bin.</a:t>
            </a:r>
            <a:endParaRPr lang="en-US" sz="3000" dirty="0"/>
          </a:p>
        </p:txBody>
      </p:sp>
      <p:sp>
        <p:nvSpPr>
          <p:cNvPr id="4" name="Shape 2"/>
          <p:cNvSpPr/>
          <p:nvPr/>
        </p:nvSpPr>
        <p:spPr>
          <a:xfrm>
            <a:off x="685800" y="2011680"/>
            <a:ext cx="2587752" cy="2926080"/>
          </a:xfrm>
          <a:prstGeom prst="roundRect">
            <a:avLst>
              <a:gd name="adj" fmla="val 2120"/>
            </a:avLst>
          </a:prstGeom>
          <a:solidFill>
            <a:srgbClr val="FFFFFF"/>
          </a:solidFill>
          <a:ln w="9525">
            <a:solidFill>
              <a:srgbClr val="D7E2DB"/>
            </a:solidFill>
            <a:prstDash val="solid"/>
          </a:ln>
        </p:spPr>
      </p:sp>
      <p:sp>
        <p:nvSpPr>
          <p:cNvPr id="5" name="Text 3"/>
          <p:cNvSpPr txBox="1"/>
          <p:nvPr/>
        </p:nvSpPr>
        <p:spPr>
          <a:xfrm>
            <a:off x="914400" y="2240280"/>
            <a:ext cx="2130552"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STEP 1</a:t>
            </a:r>
            <a:endParaRPr lang="en-US" sz="1050" dirty="0"/>
          </a:p>
        </p:txBody>
      </p:sp>
      <p:sp>
        <p:nvSpPr>
          <p:cNvPr id="6" name="Text 4"/>
          <p:cNvSpPr txBox="1"/>
          <p:nvPr/>
        </p:nvSpPr>
        <p:spPr>
          <a:xfrm>
            <a:off x="914400" y="2542032"/>
            <a:ext cx="2130552" cy="658368"/>
          </a:xfrm>
          <a:prstGeom prst="rect">
            <a:avLst/>
          </a:prstGeom>
          <a:noFill/>
          <a:ln/>
        </p:spPr>
        <p:txBody>
          <a:bodyPr wrap="square" lIns="0" tIns="0" rIns="0" bIns="0" rtlCol="0" anchor="t"/>
          <a:lstStyle/>
          <a:p>
            <a:pPr indent="0" marL="0">
              <a:lnSpc>
                <a:spcPct val="106000"/>
              </a:lnSpc>
              <a:buNone/>
            </a:pPr>
            <a:r>
              <a:rPr lang="en-US" sz="1400" b="1" dirty="0">
                <a:solidFill>
                  <a:srgbClr val="0B1410"/>
                </a:solidFill>
                <a:latin typeface="Cambria" pitchFamily="34" charset="0"/>
                <a:ea typeface="Cambria" pitchFamily="34" charset="-122"/>
                <a:cs typeface="Cambria" pitchFamily="34" charset="-120"/>
              </a:rPr>
              <a:t>Scan the code on the bin</a:t>
            </a:r>
            <a:endParaRPr lang="en-US" sz="1400" dirty="0"/>
          </a:p>
        </p:txBody>
      </p:sp>
      <p:sp>
        <p:nvSpPr>
          <p:cNvPr id="7" name="Text 5"/>
          <p:cNvSpPr txBox="1"/>
          <p:nvPr/>
        </p:nvSpPr>
        <p:spPr>
          <a:xfrm>
            <a:off x="914400" y="3273552"/>
            <a:ext cx="2130552" cy="146304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A printed sticker, not a smart bin. That is the whole reason this can actually reach a neighbourhood.</a:t>
            </a:r>
            <a:endParaRPr lang="en-US" sz="1150" dirty="0"/>
          </a:p>
        </p:txBody>
      </p:sp>
      <p:sp>
        <p:nvSpPr>
          <p:cNvPr id="8" name="Shape 6"/>
          <p:cNvSpPr/>
          <p:nvPr/>
        </p:nvSpPr>
        <p:spPr>
          <a:xfrm>
            <a:off x="3429000" y="2011680"/>
            <a:ext cx="2587752" cy="2926080"/>
          </a:xfrm>
          <a:prstGeom prst="roundRect">
            <a:avLst>
              <a:gd name="adj" fmla="val 2120"/>
            </a:avLst>
          </a:prstGeom>
          <a:solidFill>
            <a:srgbClr val="FFFFFF"/>
          </a:solidFill>
          <a:ln w="9525">
            <a:solidFill>
              <a:srgbClr val="D7E2DB"/>
            </a:solidFill>
            <a:prstDash val="solid"/>
          </a:ln>
        </p:spPr>
      </p:sp>
      <p:sp>
        <p:nvSpPr>
          <p:cNvPr id="9" name="Text 7"/>
          <p:cNvSpPr txBox="1"/>
          <p:nvPr/>
        </p:nvSpPr>
        <p:spPr>
          <a:xfrm>
            <a:off x="3657600" y="2240280"/>
            <a:ext cx="2130552"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STEP 2</a:t>
            </a:r>
            <a:endParaRPr lang="en-US" sz="1050" dirty="0"/>
          </a:p>
        </p:txBody>
      </p:sp>
      <p:sp>
        <p:nvSpPr>
          <p:cNvPr id="10" name="Text 8"/>
          <p:cNvSpPr txBox="1"/>
          <p:nvPr/>
        </p:nvSpPr>
        <p:spPr>
          <a:xfrm>
            <a:off x="3657600" y="2542032"/>
            <a:ext cx="2130552" cy="658368"/>
          </a:xfrm>
          <a:prstGeom prst="rect">
            <a:avLst/>
          </a:prstGeom>
          <a:noFill/>
          <a:ln/>
        </p:spPr>
        <p:txBody>
          <a:bodyPr wrap="square" lIns="0" tIns="0" rIns="0" bIns="0" rtlCol="0" anchor="t"/>
          <a:lstStyle/>
          <a:p>
            <a:pPr indent="0" marL="0">
              <a:lnSpc>
                <a:spcPct val="106000"/>
              </a:lnSpc>
              <a:buNone/>
            </a:pPr>
            <a:r>
              <a:rPr lang="en-US" sz="1400" b="1" dirty="0">
                <a:solidFill>
                  <a:srgbClr val="0B1410"/>
                </a:solidFill>
                <a:latin typeface="Cambria" pitchFamily="34" charset="0"/>
                <a:ea typeface="Cambria" pitchFamily="34" charset="-122"/>
                <a:cs typeface="Cambria" pitchFamily="34" charset="-120"/>
              </a:rPr>
              <a:t>Photograph the disposal</a:t>
            </a:r>
            <a:endParaRPr lang="en-US" sz="1400" dirty="0"/>
          </a:p>
        </p:txBody>
      </p:sp>
      <p:sp>
        <p:nvSpPr>
          <p:cNvPr id="11" name="Text 9"/>
          <p:cNvSpPr txBox="1"/>
          <p:nvPr/>
        </p:nvSpPr>
        <p:spPr>
          <a:xfrm>
            <a:off x="3657600" y="3273552"/>
            <a:ext cx="2130552" cy="146304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And say what it is and how much. Declaring it is what gives us something to check the picture against.</a:t>
            </a:r>
            <a:endParaRPr lang="en-US" sz="1150" dirty="0"/>
          </a:p>
        </p:txBody>
      </p:sp>
      <p:sp>
        <p:nvSpPr>
          <p:cNvPr id="12" name="Shape 10"/>
          <p:cNvSpPr/>
          <p:nvPr/>
        </p:nvSpPr>
        <p:spPr>
          <a:xfrm>
            <a:off x="6172200" y="2011680"/>
            <a:ext cx="2587752" cy="2926080"/>
          </a:xfrm>
          <a:prstGeom prst="roundRect">
            <a:avLst>
              <a:gd name="adj" fmla="val 2120"/>
            </a:avLst>
          </a:prstGeom>
          <a:solidFill>
            <a:srgbClr val="FFFFFF"/>
          </a:solidFill>
          <a:ln w="9525">
            <a:solidFill>
              <a:srgbClr val="D7E2DB"/>
            </a:solidFill>
            <a:prstDash val="solid"/>
          </a:ln>
        </p:spPr>
      </p:sp>
      <p:sp>
        <p:nvSpPr>
          <p:cNvPr id="13" name="Text 11"/>
          <p:cNvSpPr txBox="1"/>
          <p:nvPr/>
        </p:nvSpPr>
        <p:spPr>
          <a:xfrm>
            <a:off x="6400800" y="2240280"/>
            <a:ext cx="2130552"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STEP 3</a:t>
            </a:r>
            <a:endParaRPr lang="en-US" sz="1050" dirty="0"/>
          </a:p>
        </p:txBody>
      </p:sp>
      <p:sp>
        <p:nvSpPr>
          <p:cNvPr id="14" name="Text 12"/>
          <p:cNvSpPr txBox="1"/>
          <p:nvPr/>
        </p:nvSpPr>
        <p:spPr>
          <a:xfrm>
            <a:off x="6400800" y="2542032"/>
            <a:ext cx="2130552" cy="658368"/>
          </a:xfrm>
          <a:prstGeom prst="rect">
            <a:avLst/>
          </a:prstGeom>
          <a:noFill/>
          <a:ln/>
        </p:spPr>
        <p:txBody>
          <a:bodyPr wrap="square" lIns="0" tIns="0" rIns="0" bIns="0" rtlCol="0" anchor="t"/>
          <a:lstStyle/>
          <a:p>
            <a:pPr indent="0" marL="0">
              <a:lnSpc>
                <a:spcPct val="106000"/>
              </a:lnSpc>
              <a:buNone/>
            </a:pPr>
            <a:r>
              <a:rPr lang="en-US" sz="1400" b="1" dirty="0">
                <a:solidFill>
                  <a:srgbClr val="0B1410"/>
                </a:solidFill>
                <a:latin typeface="Cambria" pitchFamily="34" charset="0"/>
                <a:ea typeface="Cambria" pitchFamily="34" charset="-122"/>
                <a:cs typeface="Cambria" pitchFamily="34" charset="-120"/>
              </a:rPr>
              <a:t>Prove you are standing there</a:t>
            </a:r>
            <a:endParaRPr lang="en-US" sz="1400" dirty="0"/>
          </a:p>
        </p:txBody>
      </p:sp>
      <p:sp>
        <p:nvSpPr>
          <p:cNvPr id="15" name="Text 13"/>
          <p:cNvSpPr txBox="1"/>
          <p:nvPr/>
        </p:nvSpPr>
        <p:spPr>
          <a:xfrm>
            <a:off x="6400800" y="3273552"/>
            <a:ext cx="2130552" cy="146304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Location is captured at the moment of the scan and checked against the bin’s own recorded position.</a:t>
            </a:r>
            <a:endParaRPr lang="en-US" sz="1150" dirty="0"/>
          </a:p>
        </p:txBody>
      </p:sp>
      <p:sp>
        <p:nvSpPr>
          <p:cNvPr id="16" name="Shape 14"/>
          <p:cNvSpPr/>
          <p:nvPr/>
        </p:nvSpPr>
        <p:spPr>
          <a:xfrm>
            <a:off x="8915400" y="2011680"/>
            <a:ext cx="2587752" cy="2926080"/>
          </a:xfrm>
          <a:prstGeom prst="roundRect">
            <a:avLst>
              <a:gd name="adj" fmla="val 2120"/>
            </a:avLst>
          </a:prstGeom>
          <a:solidFill>
            <a:srgbClr val="FFFFFF"/>
          </a:solidFill>
          <a:ln w="9525">
            <a:solidFill>
              <a:srgbClr val="D7E2DB"/>
            </a:solidFill>
            <a:prstDash val="solid"/>
          </a:ln>
        </p:spPr>
      </p:sp>
      <p:sp>
        <p:nvSpPr>
          <p:cNvPr id="17" name="Text 15"/>
          <p:cNvSpPr txBox="1"/>
          <p:nvPr/>
        </p:nvSpPr>
        <p:spPr>
          <a:xfrm>
            <a:off x="9144000" y="2240280"/>
            <a:ext cx="2130552"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STEP 4</a:t>
            </a:r>
            <a:endParaRPr lang="en-US" sz="1050" dirty="0"/>
          </a:p>
        </p:txBody>
      </p:sp>
      <p:sp>
        <p:nvSpPr>
          <p:cNvPr id="18" name="Text 16"/>
          <p:cNvSpPr txBox="1"/>
          <p:nvPr/>
        </p:nvSpPr>
        <p:spPr>
          <a:xfrm>
            <a:off x="9144000" y="2542032"/>
            <a:ext cx="2130552" cy="658368"/>
          </a:xfrm>
          <a:prstGeom prst="rect">
            <a:avLst/>
          </a:prstGeom>
          <a:noFill/>
          <a:ln/>
        </p:spPr>
        <p:txBody>
          <a:bodyPr wrap="square" lIns="0" tIns="0" rIns="0" bIns="0" rtlCol="0" anchor="t"/>
          <a:lstStyle/>
          <a:p>
            <a:pPr indent="0" marL="0">
              <a:lnSpc>
                <a:spcPct val="106000"/>
              </a:lnSpc>
              <a:buNone/>
            </a:pPr>
            <a:r>
              <a:rPr lang="en-US" sz="1400" b="1" dirty="0">
                <a:solidFill>
                  <a:srgbClr val="0B1410"/>
                </a:solidFill>
                <a:latin typeface="Cambria" pitchFamily="34" charset="0"/>
                <a:ea typeface="Cambria" pitchFamily="34" charset="-122"/>
                <a:cs typeface="Cambria" pitchFamily="34" charset="-120"/>
              </a:rPr>
              <a:t>Points land, with a receipt</a:t>
            </a:r>
            <a:endParaRPr lang="en-US" sz="1400" dirty="0"/>
          </a:p>
        </p:txBody>
      </p:sp>
      <p:sp>
        <p:nvSpPr>
          <p:cNvPr id="19" name="Text 17"/>
          <p:cNvSpPr txBox="1"/>
          <p:nvPr/>
        </p:nvSpPr>
        <p:spPr>
          <a:xfrm>
            <a:off x="9144000" y="3273552"/>
            <a:ext cx="2130552" cy="146304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A notification tells you the decision. Every balance change is a line in a ledger you can read back.</a:t>
            </a:r>
            <a:endParaRPr lang="en-US" sz="1150" dirty="0"/>
          </a:p>
        </p:txBody>
      </p:sp>
      <p:sp>
        <p:nvSpPr>
          <p:cNvPr id="20" name="Text 18"/>
          <p:cNvSpPr txBox="1"/>
          <p:nvPr/>
        </p:nvSpPr>
        <p:spPr>
          <a:xfrm>
            <a:off x="9144000" y="4224528"/>
            <a:ext cx="2130552" cy="548640"/>
          </a:xfrm>
          <a:prstGeom prst="rect">
            <a:avLst/>
          </a:prstGeom>
          <a:noFill/>
          <a:ln/>
        </p:spPr>
        <p:txBody>
          <a:bodyPr wrap="square" lIns="0" tIns="0" rIns="0" bIns="0" rtlCol="0" anchor="ctr"/>
          <a:lstStyle/>
          <a:p>
            <a:pPr indent="0" marL="0">
              <a:buNone/>
            </a:pPr>
            <a:r>
              <a:rPr lang="en-US" sz="2600" b="1" dirty="0">
                <a:solidFill>
                  <a:srgbClr val="A8760D"/>
                </a:solidFill>
                <a:latin typeface="Calibri" pitchFamily="34" charset="0"/>
                <a:ea typeface="Calibri" pitchFamily="34" charset="-122"/>
                <a:cs typeface="Calibri" pitchFamily="34" charset="-120"/>
              </a:rPr>
              <a:t>+50</a:t>
            </a:r>
            <a:endParaRPr lang="en-US" sz="2600" dirty="0"/>
          </a:p>
        </p:txBody>
      </p:sp>
      <p:sp>
        <p:nvSpPr>
          <p:cNvPr id="21" name="Text 19"/>
          <p:cNvSpPr txBox="1"/>
          <p:nvPr/>
        </p:nvSpPr>
        <p:spPr>
          <a:xfrm>
            <a:off x="9829800" y="4370832"/>
            <a:ext cx="1097280" cy="274320"/>
          </a:xfrm>
          <a:prstGeom prst="rect">
            <a:avLst/>
          </a:prstGeom>
          <a:noFill/>
          <a:ln/>
        </p:spPr>
        <p:txBody>
          <a:bodyPr wrap="square" lIns="0" tIns="0" rIns="0" bIns="0" rtlCol="0" anchor="ctr"/>
          <a:lstStyle/>
          <a:p>
            <a:pPr indent="0" marL="0">
              <a:buNone/>
            </a:pPr>
            <a:r>
              <a:rPr lang="en-US" sz="950" b="1" spc="140" kern="0" dirty="0">
                <a:solidFill>
                  <a:srgbClr val="1E7F72"/>
                </a:solidFill>
                <a:latin typeface="Calibri" pitchFamily="34" charset="0"/>
                <a:ea typeface="Calibri" pitchFamily="34" charset="-122"/>
                <a:cs typeface="Calibri" pitchFamily="34" charset="-120"/>
              </a:rPr>
              <a:t>VERIFIED</a:t>
            </a:r>
            <a:endParaRPr lang="en-US" sz="950" dirty="0"/>
          </a:p>
        </p:txBody>
      </p:sp>
      <p:sp>
        <p:nvSpPr>
          <p:cNvPr id="22" name="Shape 20"/>
          <p:cNvSpPr/>
          <p:nvPr/>
        </p:nvSpPr>
        <p:spPr>
          <a:xfrm>
            <a:off x="685800" y="5230368"/>
            <a:ext cx="10820095" cy="10058"/>
          </a:xfrm>
          <a:prstGeom prst="rect">
            <a:avLst/>
          </a:prstGeom>
          <a:solidFill>
            <a:srgbClr val="D7E2DB"/>
          </a:solidFill>
          <a:ln/>
        </p:spPr>
      </p:sp>
      <p:sp>
        <p:nvSpPr>
          <p:cNvPr id="23" name="Text 21"/>
          <p:cNvSpPr txBox="1"/>
          <p:nvPr/>
        </p:nvSpPr>
        <p:spPr>
          <a:xfrm>
            <a:off x="685800" y="5440680"/>
            <a:ext cx="10820095" cy="365760"/>
          </a:xfrm>
          <a:prstGeom prst="rect">
            <a:avLst/>
          </a:prstGeom>
          <a:noFill/>
          <a:ln/>
        </p:spPr>
        <p:txBody>
          <a:bodyPr wrap="square" lIns="0" tIns="0" rIns="0" bIns="0" rtlCol="0" anchor="ctr"/>
          <a:lstStyle/>
          <a:p>
            <a:pPr indent="0" marL="0">
              <a:buNone/>
            </a:pPr>
            <a:r>
              <a:rPr lang="en-US" sz="1250" b="1" dirty="0">
                <a:solidFill>
                  <a:srgbClr val="A8760D"/>
                </a:solidFill>
                <a:latin typeface="Calibri" pitchFamily="34" charset="0"/>
                <a:ea typeface="Calibri" pitchFamily="34" charset="-122"/>
                <a:cs typeface="Calibri" pitchFamily="34" charset="-120"/>
              </a:rPr>
              <a:t>100</a:t>
            </a:r>
            <a:pPr indent="0" marL="0">
              <a:buNone/>
            </a:pPr>
            <a:r>
              <a:rPr lang="en-US" sz="1250" dirty="0">
                <a:solidFill>
                  <a:srgbClr val="0B1410"/>
                </a:solidFill>
                <a:latin typeface="Calibri" pitchFamily="34" charset="0"/>
                <a:ea typeface="Calibri" pitchFamily="34" charset="-122"/>
                <a:cs typeface="Calibri" pitchFamily="34" charset="-120"/>
              </a:rPr>
              <a:t> points = Tk 10          </a:t>
            </a:r>
            <a:pPr indent="0" marL="0">
              <a:buNone/>
            </a:pPr>
            <a:r>
              <a:rPr lang="en-US" sz="1250" dirty="0">
                <a:solidFill>
                  <a:srgbClr val="55655D"/>
                </a:solidFill>
                <a:latin typeface="Calibri" pitchFamily="34" charset="0"/>
                <a:ea typeface="Calibri" pitchFamily="34" charset="-122"/>
                <a:cs typeface="Calibri" pitchFamily="34" charset="-120"/>
              </a:rPr>
              <a:t>One disposal is worth about Tk 5          Spent in multiples of ten — the remainder stays in your wallet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410"/>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E4A11B"/>
                </a:solidFill>
                <a:latin typeface="Calibri" pitchFamily="34" charset="0"/>
                <a:ea typeface="Calibri" pitchFamily="34" charset="-122"/>
                <a:cs typeface="Calibri" pitchFamily="34" charset="-120"/>
              </a:rPr>
              <a:t>WHY THIS IS HARD</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2900" b="1" dirty="0">
                <a:solidFill>
                  <a:srgbClr val="F7FAF8"/>
                </a:solidFill>
                <a:latin typeface="Cambria" pitchFamily="34" charset="0"/>
                <a:ea typeface="Cambria" pitchFamily="34" charset="-122"/>
                <a:cs typeface="Cambria" pitchFamily="34" charset="-120"/>
              </a:rPr>
              <a:t>A rewards system is worth exactly what its proof is worth.</a:t>
            </a:r>
            <a:endParaRPr lang="en-US" sz="2900" dirty="0"/>
          </a:p>
        </p:txBody>
      </p:sp>
      <p:sp>
        <p:nvSpPr>
          <p:cNvPr id="4" name="Text 2"/>
          <p:cNvSpPr txBox="1"/>
          <p:nvPr/>
        </p:nvSpPr>
        <p:spPr>
          <a:xfrm>
            <a:off x="685800" y="1847088"/>
            <a:ext cx="7315200" cy="274320"/>
          </a:xfrm>
          <a:prstGeom prst="rect">
            <a:avLst/>
          </a:prstGeom>
          <a:noFill/>
          <a:ln/>
        </p:spPr>
        <p:txBody>
          <a:bodyPr wrap="square" lIns="0" tIns="0" rIns="0" bIns="0" rtlCol="0" anchor="t"/>
          <a:lstStyle/>
          <a:p>
            <a:pPr indent="0" marL="0">
              <a:lnSpc>
                <a:spcPct val="116000"/>
              </a:lnSpc>
              <a:buNone/>
            </a:pPr>
            <a:r>
              <a:rPr lang="en-US" sz="1400" dirty="0">
                <a:solidFill>
                  <a:srgbClr val="DCE8E2"/>
                </a:solidFill>
                <a:latin typeface="Calibri" pitchFamily="34" charset="0"/>
                <a:ea typeface="Calibri" pitchFamily="34" charset="-122"/>
                <a:cs typeface="Calibri" pitchFamily="34" charset="-120"/>
              </a:rPr>
              <a:t>Five things have to hold before a single point is paid.</a:t>
            </a:r>
            <a:endParaRPr lang="en-US" sz="1400" dirty="0"/>
          </a:p>
        </p:txBody>
      </p:sp>
      <p:sp>
        <p:nvSpPr>
          <p:cNvPr id="5" name="Shape 3"/>
          <p:cNvSpPr/>
          <p:nvPr/>
        </p:nvSpPr>
        <p:spPr>
          <a:xfrm>
            <a:off x="685800" y="2304288"/>
            <a:ext cx="10820095" cy="10058"/>
          </a:xfrm>
          <a:prstGeom prst="rect">
            <a:avLst/>
          </a:prstGeom>
          <a:solidFill>
            <a:srgbClr val="2C3B34"/>
          </a:solidFill>
          <a:ln/>
        </p:spPr>
      </p:sp>
      <p:sp>
        <p:nvSpPr>
          <p:cNvPr id="6" name="Shape 4"/>
          <p:cNvSpPr/>
          <p:nvPr/>
        </p:nvSpPr>
        <p:spPr>
          <a:xfrm>
            <a:off x="685800" y="2395728"/>
            <a:ext cx="365760" cy="365760"/>
          </a:xfrm>
          <a:prstGeom prst="ellipse">
            <a:avLst/>
          </a:prstGeom>
          <a:solidFill>
            <a:srgbClr val="1FA97A"/>
          </a:solidFill>
          <a:ln/>
        </p:spPr>
      </p:sp>
      <p:sp>
        <p:nvSpPr>
          <p:cNvPr id="7" name="Text 5"/>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0B1410"/>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234440" y="2432304"/>
            <a:ext cx="1143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WHERE</a:t>
            </a:r>
            <a:endParaRPr lang="en-US" sz="1050" dirty="0"/>
          </a:p>
        </p:txBody>
      </p:sp>
      <p:sp>
        <p:nvSpPr>
          <p:cNvPr id="9" name="Text 7"/>
          <p:cNvSpPr txBox="1"/>
          <p:nvPr/>
        </p:nvSpPr>
        <p:spPr>
          <a:xfrm>
            <a:off x="2468880" y="2414016"/>
            <a:ext cx="9006840" cy="658368"/>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The photo must be taken within a set radius of a registered bin — recomputed on our server against the bin’s own recorded position, never trusted from the phone.</a:t>
            </a:r>
            <a:endParaRPr lang="en-US" sz="1200" dirty="0"/>
          </a:p>
        </p:txBody>
      </p:sp>
      <p:sp>
        <p:nvSpPr>
          <p:cNvPr id="10" name="Shape 8"/>
          <p:cNvSpPr/>
          <p:nvPr/>
        </p:nvSpPr>
        <p:spPr>
          <a:xfrm>
            <a:off x="685800" y="2999232"/>
            <a:ext cx="10820095" cy="10058"/>
          </a:xfrm>
          <a:prstGeom prst="rect">
            <a:avLst/>
          </a:prstGeom>
          <a:solidFill>
            <a:srgbClr val="2C3B34"/>
          </a:solidFill>
          <a:ln/>
        </p:spPr>
      </p:sp>
      <p:sp>
        <p:nvSpPr>
          <p:cNvPr id="11" name="Shape 9"/>
          <p:cNvSpPr/>
          <p:nvPr/>
        </p:nvSpPr>
        <p:spPr>
          <a:xfrm>
            <a:off x="685800" y="3108960"/>
            <a:ext cx="365760" cy="365760"/>
          </a:xfrm>
          <a:prstGeom prst="ellipse">
            <a:avLst/>
          </a:prstGeom>
          <a:solidFill>
            <a:srgbClr val="1FA97A"/>
          </a:solidFill>
          <a:ln/>
        </p:spPr>
      </p:sp>
      <p:sp>
        <p:nvSpPr>
          <p:cNvPr id="12" name="Text 10"/>
          <p:cNvSpPr txBox="1"/>
          <p:nvPr/>
        </p:nvSpPr>
        <p:spPr>
          <a:xfrm>
            <a:off x="685800" y="3108960"/>
            <a:ext cx="365760" cy="365760"/>
          </a:xfrm>
          <a:prstGeom prst="rect">
            <a:avLst/>
          </a:prstGeom>
          <a:noFill/>
          <a:ln/>
        </p:spPr>
        <p:txBody>
          <a:bodyPr wrap="square" lIns="0" tIns="0" rIns="0" bIns="0" rtlCol="0" anchor="ctr"/>
          <a:lstStyle/>
          <a:p>
            <a:pPr algn="ctr" indent="0" marL="0">
              <a:buNone/>
            </a:pPr>
            <a:r>
              <a:rPr lang="en-US" sz="1200" b="1" dirty="0">
                <a:solidFill>
                  <a:srgbClr val="0B1410"/>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234440" y="3145536"/>
            <a:ext cx="1143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WHAT</a:t>
            </a:r>
            <a:endParaRPr lang="en-US" sz="1050" dirty="0"/>
          </a:p>
        </p:txBody>
      </p:sp>
      <p:sp>
        <p:nvSpPr>
          <p:cNvPr id="14" name="Text 12"/>
          <p:cNvSpPr txBox="1"/>
          <p:nvPr/>
        </p:nvSpPr>
        <p:spPr>
          <a:xfrm>
            <a:off x="2468880" y="3127248"/>
            <a:ext cx="9006840" cy="658368"/>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An automated screen checks that the picture actually shows what the person said they were throwing away.</a:t>
            </a:r>
            <a:endParaRPr lang="en-US" sz="1200" dirty="0"/>
          </a:p>
        </p:txBody>
      </p:sp>
      <p:sp>
        <p:nvSpPr>
          <p:cNvPr id="15" name="Shape 13"/>
          <p:cNvSpPr/>
          <p:nvPr/>
        </p:nvSpPr>
        <p:spPr>
          <a:xfrm>
            <a:off x="685800" y="3712464"/>
            <a:ext cx="10820095" cy="10058"/>
          </a:xfrm>
          <a:prstGeom prst="rect">
            <a:avLst/>
          </a:prstGeom>
          <a:solidFill>
            <a:srgbClr val="2C3B34"/>
          </a:solidFill>
          <a:ln/>
        </p:spPr>
      </p:sp>
      <p:sp>
        <p:nvSpPr>
          <p:cNvPr id="16" name="Shape 14"/>
          <p:cNvSpPr/>
          <p:nvPr/>
        </p:nvSpPr>
        <p:spPr>
          <a:xfrm>
            <a:off x="685800" y="3822192"/>
            <a:ext cx="365760" cy="365760"/>
          </a:xfrm>
          <a:prstGeom prst="ellipse">
            <a:avLst/>
          </a:prstGeom>
          <a:solidFill>
            <a:srgbClr val="1FA97A"/>
          </a:solidFill>
          <a:ln/>
        </p:spPr>
      </p:sp>
      <p:sp>
        <p:nvSpPr>
          <p:cNvPr id="17" name="Text 15"/>
          <p:cNvSpPr txBox="1"/>
          <p:nvPr/>
        </p:nvSpPr>
        <p:spPr>
          <a:xfrm>
            <a:off x="685800" y="3822192"/>
            <a:ext cx="365760" cy="365760"/>
          </a:xfrm>
          <a:prstGeom prst="rect">
            <a:avLst/>
          </a:prstGeom>
          <a:noFill/>
          <a:ln/>
        </p:spPr>
        <p:txBody>
          <a:bodyPr wrap="square" lIns="0" tIns="0" rIns="0" bIns="0" rtlCol="0" anchor="ctr"/>
          <a:lstStyle/>
          <a:p>
            <a:pPr algn="ctr" indent="0" marL="0">
              <a:buNone/>
            </a:pPr>
            <a:r>
              <a:rPr lang="en-US" sz="1200" b="1" dirty="0">
                <a:solidFill>
                  <a:srgbClr val="0B1410"/>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234440" y="3858768"/>
            <a:ext cx="1143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AGAIN</a:t>
            </a:r>
            <a:endParaRPr lang="en-US" sz="1050" dirty="0"/>
          </a:p>
        </p:txBody>
      </p:sp>
      <p:sp>
        <p:nvSpPr>
          <p:cNvPr id="19" name="Text 17"/>
          <p:cNvSpPr txBox="1"/>
          <p:nvPr/>
        </p:nvSpPr>
        <p:spPr>
          <a:xfrm>
            <a:off x="2468880" y="3840480"/>
            <a:ext cx="9006840" cy="658368"/>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Every photo is fingerprinted, so the same picture submitted twice — at any bin, on any day — is caught.</a:t>
            </a:r>
            <a:endParaRPr lang="en-US" sz="1200" dirty="0"/>
          </a:p>
        </p:txBody>
      </p:sp>
      <p:sp>
        <p:nvSpPr>
          <p:cNvPr id="20" name="Shape 18"/>
          <p:cNvSpPr/>
          <p:nvPr/>
        </p:nvSpPr>
        <p:spPr>
          <a:xfrm>
            <a:off x="685800" y="4425696"/>
            <a:ext cx="10820095" cy="10058"/>
          </a:xfrm>
          <a:prstGeom prst="rect">
            <a:avLst/>
          </a:prstGeom>
          <a:solidFill>
            <a:srgbClr val="2C3B34"/>
          </a:solidFill>
          <a:ln/>
        </p:spPr>
      </p:sp>
      <p:sp>
        <p:nvSpPr>
          <p:cNvPr id="21" name="Shape 19"/>
          <p:cNvSpPr/>
          <p:nvPr/>
        </p:nvSpPr>
        <p:spPr>
          <a:xfrm>
            <a:off x="685800" y="4535424"/>
            <a:ext cx="365760" cy="365760"/>
          </a:xfrm>
          <a:prstGeom prst="ellipse">
            <a:avLst/>
          </a:prstGeom>
          <a:solidFill>
            <a:srgbClr val="1FA97A"/>
          </a:solidFill>
          <a:ln/>
        </p:spPr>
      </p:sp>
      <p:sp>
        <p:nvSpPr>
          <p:cNvPr id="22" name="Text 20"/>
          <p:cNvSpPr txBox="1"/>
          <p:nvPr/>
        </p:nvSpPr>
        <p:spPr>
          <a:xfrm>
            <a:off x="685800" y="4535424"/>
            <a:ext cx="365760" cy="365760"/>
          </a:xfrm>
          <a:prstGeom prst="rect">
            <a:avLst/>
          </a:prstGeom>
          <a:noFill/>
          <a:ln/>
        </p:spPr>
        <p:txBody>
          <a:bodyPr wrap="square" lIns="0" tIns="0" rIns="0" bIns="0" rtlCol="0" anchor="ctr"/>
          <a:lstStyle/>
          <a:p>
            <a:pPr algn="ctr" indent="0" marL="0">
              <a:buNone/>
            </a:pPr>
            <a:r>
              <a:rPr lang="en-US" sz="1200" b="1" dirty="0">
                <a:solidFill>
                  <a:srgbClr val="0B1410"/>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234440" y="4572000"/>
            <a:ext cx="1143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WHEN</a:t>
            </a:r>
            <a:endParaRPr lang="en-US" sz="1050" dirty="0"/>
          </a:p>
        </p:txBody>
      </p:sp>
      <p:sp>
        <p:nvSpPr>
          <p:cNvPr id="24" name="Text 22"/>
          <p:cNvSpPr txBox="1"/>
          <p:nvPr/>
        </p:nvSpPr>
        <p:spPr>
          <a:xfrm>
            <a:off x="2468880" y="4553712"/>
            <a:ext cx="9006840" cy="658368"/>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Six hours between claims at the same bin, and three approved disposals a day. Enough for a genuine trip; not enough to farm.</a:t>
            </a:r>
            <a:endParaRPr lang="en-US" sz="1200" dirty="0"/>
          </a:p>
        </p:txBody>
      </p:sp>
      <p:sp>
        <p:nvSpPr>
          <p:cNvPr id="25" name="Shape 23"/>
          <p:cNvSpPr/>
          <p:nvPr/>
        </p:nvSpPr>
        <p:spPr>
          <a:xfrm>
            <a:off x="685800" y="5138928"/>
            <a:ext cx="10820095" cy="10058"/>
          </a:xfrm>
          <a:prstGeom prst="rect">
            <a:avLst/>
          </a:prstGeom>
          <a:solidFill>
            <a:srgbClr val="2C3B34"/>
          </a:solidFill>
          <a:ln/>
        </p:spPr>
      </p:sp>
      <p:sp>
        <p:nvSpPr>
          <p:cNvPr id="26" name="Shape 24"/>
          <p:cNvSpPr/>
          <p:nvPr/>
        </p:nvSpPr>
        <p:spPr>
          <a:xfrm>
            <a:off x="685800" y="5248656"/>
            <a:ext cx="365760" cy="365760"/>
          </a:xfrm>
          <a:prstGeom prst="ellipse">
            <a:avLst/>
          </a:prstGeom>
          <a:solidFill>
            <a:srgbClr val="1FA97A"/>
          </a:solidFill>
          <a:ln/>
        </p:spPr>
      </p:sp>
      <p:sp>
        <p:nvSpPr>
          <p:cNvPr id="27" name="Text 25"/>
          <p:cNvSpPr txBox="1"/>
          <p:nvPr/>
        </p:nvSpPr>
        <p:spPr>
          <a:xfrm>
            <a:off x="685800" y="5248656"/>
            <a:ext cx="365760" cy="365760"/>
          </a:xfrm>
          <a:prstGeom prst="rect">
            <a:avLst/>
          </a:prstGeom>
          <a:noFill/>
          <a:ln/>
        </p:spPr>
        <p:txBody>
          <a:bodyPr wrap="square" lIns="0" tIns="0" rIns="0" bIns="0" rtlCol="0" anchor="ctr"/>
          <a:lstStyle/>
          <a:p>
            <a:pPr algn="ctr" indent="0" marL="0">
              <a:buNone/>
            </a:pPr>
            <a:r>
              <a:rPr lang="en-US" sz="1200" b="1" dirty="0">
                <a:solidFill>
                  <a:srgbClr val="0B1410"/>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1234440" y="5285232"/>
            <a:ext cx="1143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WHO</a:t>
            </a:r>
            <a:endParaRPr lang="en-US" sz="1050" dirty="0"/>
          </a:p>
        </p:txBody>
      </p:sp>
      <p:sp>
        <p:nvSpPr>
          <p:cNvPr id="29" name="Text 27"/>
          <p:cNvSpPr txBox="1"/>
          <p:nvPr/>
        </p:nvSpPr>
        <p:spPr>
          <a:xfrm>
            <a:off x="2468880" y="5266944"/>
            <a:ext cx="9006840" cy="658368"/>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Anything uncertain goes to a person, not to a payout.</a:t>
            </a:r>
            <a:endParaRPr lang="en-US" sz="1200" dirty="0"/>
          </a:p>
        </p:txBody>
      </p:sp>
      <p:sp>
        <p:nvSpPr>
          <p:cNvPr id="30" name="Shape 28"/>
          <p:cNvSpPr/>
          <p:nvPr/>
        </p:nvSpPr>
        <p:spPr>
          <a:xfrm>
            <a:off x="685800" y="5852160"/>
            <a:ext cx="10820095" cy="10058"/>
          </a:xfrm>
          <a:prstGeom prst="rect">
            <a:avLst/>
          </a:prstGeom>
          <a:solidFill>
            <a:srgbClr val="2C3B34"/>
          </a:solidFill>
          <a:ln/>
        </p:spPr>
      </p:sp>
      <p:sp>
        <p:nvSpPr>
          <p:cNvPr id="31" name="Text 29"/>
          <p:cNvSpPr txBox="1"/>
          <p:nvPr/>
        </p:nvSpPr>
        <p:spPr>
          <a:xfrm>
            <a:off x="685800" y="6035040"/>
            <a:ext cx="9601200" cy="868680"/>
          </a:xfrm>
          <a:prstGeom prst="rect">
            <a:avLst/>
          </a:prstGeom>
          <a:noFill/>
          <a:ln/>
        </p:spPr>
        <p:txBody>
          <a:bodyPr wrap="square" lIns="0" tIns="0" rIns="0" bIns="0" rtlCol="0" anchor="t"/>
          <a:lstStyle/>
          <a:p>
            <a:pPr indent="0" marL="0">
              <a:lnSpc>
                <a:spcPct val="114000"/>
              </a:lnSpc>
              <a:buNone/>
            </a:pPr>
            <a:r>
              <a:rPr lang="en-US" sz="1700" dirty="0">
                <a:solidFill>
                  <a:srgbClr val="F7FAF8"/>
                </a:solidFill>
                <a:latin typeface="Cambria" pitchFamily="34" charset="0"/>
                <a:ea typeface="Cambria" pitchFamily="34" charset="-122"/>
                <a:cs typeface="Cambria" pitchFamily="34" charset="-120"/>
              </a:rPr>
              <a:t>The system fails toward review, never toward payout. And no phone, ever, decides what it gets paid.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WHERE THE POINTS GO</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2900" b="1" dirty="0">
                <a:solidFill>
                  <a:srgbClr val="0B1410"/>
                </a:solidFill>
                <a:latin typeface="Cambria" pitchFamily="34" charset="0"/>
                <a:ea typeface="Cambria" pitchFamily="34" charset="-122"/>
                <a:cs typeface="Cambria" pitchFamily="34" charset="-120"/>
              </a:rPr>
              <a:t>A marketplace where handmade and recycled is the premise, not the handicap.</a:t>
            </a:r>
            <a:endParaRPr lang="en-US" sz="2900" dirty="0"/>
          </a:p>
        </p:txBody>
      </p:sp>
      <p:sp>
        <p:nvSpPr>
          <p:cNvPr id="4" name="Shape 2"/>
          <p:cNvSpPr/>
          <p:nvPr/>
        </p:nvSpPr>
        <p:spPr>
          <a:xfrm>
            <a:off x="685800" y="2148840"/>
            <a:ext cx="5074920" cy="1115568"/>
          </a:xfrm>
          <a:prstGeom prst="roundRect">
            <a:avLst>
              <a:gd name="adj" fmla="val 4918"/>
            </a:avLst>
          </a:prstGeom>
          <a:solidFill>
            <a:srgbClr val="FFFFFF"/>
          </a:solidFill>
          <a:ln w="9525">
            <a:solidFill>
              <a:srgbClr val="D7E2DB"/>
            </a:solidFill>
            <a:prstDash val="solid"/>
          </a:ln>
        </p:spPr>
      </p:sp>
      <p:sp>
        <p:nvSpPr>
          <p:cNvPr id="5" name="Text 3"/>
          <p:cNvSpPr txBox="1"/>
          <p:nvPr/>
        </p:nvSpPr>
        <p:spPr>
          <a:xfrm>
            <a:off x="941832" y="2331720"/>
            <a:ext cx="4562856"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FOR THE SHOPPER</a:t>
            </a:r>
            <a:endParaRPr lang="en-US" sz="1050" dirty="0"/>
          </a:p>
        </p:txBody>
      </p:sp>
      <p:sp>
        <p:nvSpPr>
          <p:cNvPr id="6" name="Text 4"/>
          <p:cNvSpPr txBox="1"/>
          <p:nvPr/>
        </p:nvSpPr>
        <p:spPr>
          <a:xfrm>
            <a:off x="941832" y="2633472"/>
            <a:ext cx="4562856" cy="566928"/>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Points come off the bill — up to half of it. They supplement money; they never replace it, so a listing always earns its seller real income.</a:t>
            </a:r>
            <a:endParaRPr lang="en-US" sz="1150" dirty="0"/>
          </a:p>
        </p:txBody>
      </p:sp>
      <p:sp>
        <p:nvSpPr>
          <p:cNvPr id="7" name="Shape 5"/>
          <p:cNvSpPr/>
          <p:nvPr/>
        </p:nvSpPr>
        <p:spPr>
          <a:xfrm>
            <a:off x="685800" y="3447288"/>
            <a:ext cx="5074920" cy="1115568"/>
          </a:xfrm>
          <a:prstGeom prst="roundRect">
            <a:avLst>
              <a:gd name="adj" fmla="val 4918"/>
            </a:avLst>
          </a:prstGeom>
          <a:solidFill>
            <a:srgbClr val="FFFFFF"/>
          </a:solidFill>
          <a:ln w="9525">
            <a:solidFill>
              <a:srgbClr val="D7E2DB"/>
            </a:solidFill>
            <a:prstDash val="solid"/>
          </a:ln>
        </p:spPr>
      </p:sp>
      <p:sp>
        <p:nvSpPr>
          <p:cNvPr id="8" name="Text 6"/>
          <p:cNvSpPr txBox="1"/>
          <p:nvPr/>
        </p:nvSpPr>
        <p:spPr>
          <a:xfrm>
            <a:off x="941832" y="3630168"/>
            <a:ext cx="4562856"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FOR THE ENTREPRENEUR</a:t>
            </a:r>
            <a:endParaRPr lang="en-US" sz="1050" dirty="0"/>
          </a:p>
        </p:txBody>
      </p:sp>
      <p:sp>
        <p:nvSpPr>
          <p:cNvPr id="9" name="Text 7"/>
          <p:cNvSpPr txBox="1"/>
          <p:nvPr/>
        </p:nvSpPr>
        <p:spPr>
          <a:xfrm>
            <a:off x="941832" y="3931920"/>
            <a:ext cx="4562856" cy="566928"/>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A channel where being handmade or recycled-material is the basis of the market, plus a reputation attached to the person rather than to a page.</a:t>
            </a:r>
            <a:endParaRPr lang="en-US" sz="1150" dirty="0"/>
          </a:p>
        </p:txBody>
      </p:sp>
      <p:sp>
        <p:nvSpPr>
          <p:cNvPr id="10" name="Shape 8"/>
          <p:cNvSpPr/>
          <p:nvPr/>
        </p:nvSpPr>
        <p:spPr>
          <a:xfrm>
            <a:off x="685800" y="4745736"/>
            <a:ext cx="5074920" cy="1115568"/>
          </a:xfrm>
          <a:prstGeom prst="roundRect">
            <a:avLst>
              <a:gd name="adj" fmla="val 4918"/>
            </a:avLst>
          </a:prstGeom>
          <a:solidFill>
            <a:srgbClr val="FFFFFF"/>
          </a:solidFill>
          <a:ln w="9525">
            <a:solidFill>
              <a:srgbClr val="D7E2DB"/>
            </a:solidFill>
            <a:prstDash val="solid"/>
          </a:ln>
        </p:spPr>
      </p:sp>
      <p:sp>
        <p:nvSpPr>
          <p:cNvPr id="11" name="Text 9"/>
          <p:cNvSpPr txBox="1"/>
          <p:nvPr/>
        </p:nvSpPr>
        <p:spPr>
          <a:xfrm>
            <a:off x="941832" y="4928616"/>
            <a:ext cx="4562856"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FOR BOTH</a:t>
            </a:r>
            <a:endParaRPr lang="en-US" sz="1050" dirty="0"/>
          </a:p>
        </p:txBody>
      </p:sp>
      <p:sp>
        <p:nvSpPr>
          <p:cNvPr id="12" name="Text 10"/>
          <p:cNvSpPr txBox="1"/>
          <p:nvPr/>
        </p:nvSpPr>
        <p:spPr>
          <a:xfrm>
            <a:off x="941832" y="5230368"/>
            <a:ext cx="4562856" cy="566928"/>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Confirming the delivery is what releases the purchase points. Both sides have to show up before anything is credited.</a:t>
            </a:r>
            <a:endParaRPr lang="en-US" sz="1150" dirty="0"/>
          </a:p>
        </p:txBody>
      </p:sp>
      <p:sp>
        <p:nvSpPr>
          <p:cNvPr id="13" name="Shape 11"/>
          <p:cNvSpPr/>
          <p:nvPr/>
        </p:nvSpPr>
        <p:spPr>
          <a:xfrm>
            <a:off x="6428232" y="2148840"/>
            <a:ext cx="5074920" cy="10058"/>
          </a:xfrm>
          <a:prstGeom prst="rect">
            <a:avLst/>
          </a:prstGeom>
          <a:solidFill>
            <a:srgbClr val="D7E2DB"/>
          </a:solidFill>
          <a:ln/>
        </p:spPr>
      </p:sp>
      <p:sp>
        <p:nvSpPr>
          <p:cNvPr id="14" name="Text 12"/>
          <p:cNvSpPr txBox="1"/>
          <p:nvPr/>
        </p:nvSpPr>
        <p:spPr>
          <a:xfrm>
            <a:off x="6428232" y="2331720"/>
            <a:ext cx="169164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EARN BACK</a:t>
            </a:r>
            <a:endParaRPr lang="en-US" sz="1050" dirty="0"/>
          </a:p>
        </p:txBody>
      </p:sp>
      <p:sp>
        <p:nvSpPr>
          <p:cNvPr id="15" name="Text 13"/>
          <p:cNvSpPr txBox="1"/>
          <p:nvPr/>
        </p:nvSpPr>
        <p:spPr>
          <a:xfrm>
            <a:off x="8211312" y="2313432"/>
            <a:ext cx="3291840" cy="566928"/>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5% of every order returns as points</a:t>
            </a:r>
            <a:endParaRPr lang="en-US" sz="1200" dirty="0"/>
          </a:p>
        </p:txBody>
      </p:sp>
      <p:sp>
        <p:nvSpPr>
          <p:cNvPr id="16" name="Shape 14"/>
          <p:cNvSpPr/>
          <p:nvPr/>
        </p:nvSpPr>
        <p:spPr>
          <a:xfrm>
            <a:off x="6428232" y="2880360"/>
            <a:ext cx="5074920" cy="10058"/>
          </a:xfrm>
          <a:prstGeom prst="rect">
            <a:avLst/>
          </a:prstGeom>
          <a:solidFill>
            <a:srgbClr val="D7E2DB"/>
          </a:solidFill>
          <a:ln/>
        </p:spPr>
      </p:sp>
      <p:sp>
        <p:nvSpPr>
          <p:cNvPr id="17" name="Text 15"/>
          <p:cNvSpPr txBox="1"/>
          <p:nvPr/>
        </p:nvSpPr>
        <p:spPr>
          <a:xfrm>
            <a:off x="6428232" y="3118104"/>
            <a:ext cx="169164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POINT CEILING</a:t>
            </a:r>
            <a:endParaRPr lang="en-US" sz="1050" dirty="0"/>
          </a:p>
        </p:txBody>
      </p:sp>
      <p:sp>
        <p:nvSpPr>
          <p:cNvPr id="18" name="Text 16"/>
          <p:cNvSpPr txBox="1"/>
          <p:nvPr/>
        </p:nvSpPr>
        <p:spPr>
          <a:xfrm>
            <a:off x="8211312" y="3099816"/>
            <a:ext cx="3291840" cy="566928"/>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At most half of a bill can be paid in points</a:t>
            </a:r>
            <a:endParaRPr lang="en-US" sz="1200" dirty="0"/>
          </a:p>
        </p:txBody>
      </p:sp>
      <p:sp>
        <p:nvSpPr>
          <p:cNvPr id="19" name="Shape 17"/>
          <p:cNvSpPr/>
          <p:nvPr/>
        </p:nvSpPr>
        <p:spPr>
          <a:xfrm>
            <a:off x="6428232" y="3666744"/>
            <a:ext cx="5074920" cy="10058"/>
          </a:xfrm>
          <a:prstGeom prst="rect">
            <a:avLst/>
          </a:prstGeom>
          <a:solidFill>
            <a:srgbClr val="D7E2DB"/>
          </a:solidFill>
          <a:ln/>
        </p:spPr>
      </p:sp>
      <p:sp>
        <p:nvSpPr>
          <p:cNvPr id="20" name="Text 18"/>
          <p:cNvSpPr txBox="1"/>
          <p:nvPr/>
        </p:nvSpPr>
        <p:spPr>
          <a:xfrm>
            <a:off x="6428232" y="3904488"/>
            <a:ext cx="169164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MIXED CART</a:t>
            </a:r>
            <a:endParaRPr lang="en-US" sz="1050" dirty="0"/>
          </a:p>
        </p:txBody>
      </p:sp>
      <p:sp>
        <p:nvSpPr>
          <p:cNvPr id="21" name="Text 19"/>
          <p:cNvSpPr txBox="1"/>
          <p:nvPr/>
        </p:nvSpPr>
        <p:spPr>
          <a:xfrm>
            <a:off x="8211312" y="3886200"/>
            <a:ext cx="3291840" cy="566928"/>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Splits into one order per entrepreneur, automatically</a:t>
            </a:r>
            <a:endParaRPr lang="en-US" sz="1200" dirty="0"/>
          </a:p>
        </p:txBody>
      </p:sp>
      <p:sp>
        <p:nvSpPr>
          <p:cNvPr id="22" name="Shape 20"/>
          <p:cNvSpPr/>
          <p:nvPr/>
        </p:nvSpPr>
        <p:spPr>
          <a:xfrm>
            <a:off x="6428232" y="4453128"/>
            <a:ext cx="5074920" cy="10058"/>
          </a:xfrm>
          <a:prstGeom prst="rect">
            <a:avLst/>
          </a:prstGeom>
          <a:solidFill>
            <a:srgbClr val="D7E2DB"/>
          </a:solidFill>
          <a:ln/>
        </p:spPr>
      </p:sp>
      <p:sp>
        <p:nvSpPr>
          <p:cNvPr id="23" name="Text 21"/>
          <p:cNvSpPr txBox="1"/>
          <p:nvPr/>
        </p:nvSpPr>
        <p:spPr>
          <a:xfrm>
            <a:off x="6428232" y="4690872"/>
            <a:ext cx="169164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PAYING</a:t>
            </a:r>
            <a:endParaRPr lang="en-US" sz="1050" dirty="0"/>
          </a:p>
        </p:txBody>
      </p:sp>
      <p:sp>
        <p:nvSpPr>
          <p:cNvPr id="24" name="Text 22"/>
          <p:cNvSpPr txBox="1"/>
          <p:nvPr/>
        </p:nvSpPr>
        <p:spPr>
          <a:xfrm>
            <a:off x="8211312" y="4672584"/>
            <a:ext cx="3291840" cy="566928"/>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Cash on delivery, or bKash / Nagad / card</a:t>
            </a:r>
            <a:endParaRPr lang="en-US" sz="1200" dirty="0"/>
          </a:p>
        </p:txBody>
      </p:sp>
      <p:sp>
        <p:nvSpPr>
          <p:cNvPr id="25" name="Shape 23"/>
          <p:cNvSpPr/>
          <p:nvPr/>
        </p:nvSpPr>
        <p:spPr>
          <a:xfrm>
            <a:off x="6428232" y="5239512"/>
            <a:ext cx="5074920" cy="10058"/>
          </a:xfrm>
          <a:prstGeom prst="rect">
            <a:avLst/>
          </a:prstGeom>
          <a:solidFill>
            <a:srgbClr val="D7E2DB"/>
          </a:solidFill>
          <a:ln/>
        </p:spPr>
      </p:sp>
      <p:sp>
        <p:nvSpPr>
          <p:cNvPr id="26" name="Text 24"/>
          <p:cNvSpPr txBox="1"/>
          <p:nvPr/>
        </p:nvSpPr>
        <p:spPr>
          <a:xfrm>
            <a:off x="6428232" y="5623560"/>
            <a:ext cx="5074920" cy="274320"/>
          </a:xfrm>
          <a:prstGeom prst="rect">
            <a:avLst/>
          </a:prstGeom>
          <a:noFill/>
          <a:ln/>
        </p:spPr>
        <p:txBody>
          <a:bodyPr wrap="square" lIns="0" tIns="0" rIns="0" bIns="0" rtlCol="0" anchor="ctr"/>
          <a:lstStyle/>
          <a:p>
            <a:pPr indent="0" marL="0">
              <a:buNone/>
            </a:pPr>
            <a:r>
              <a:rPr lang="en-US" sz="900" spc="80" kern="0" dirty="0">
                <a:solidFill>
                  <a:srgbClr val="5C6C63"/>
                </a:solidFill>
                <a:latin typeface="Calibri" pitchFamily="34" charset="0"/>
                <a:ea typeface="Calibri" pitchFamily="34" charset="-122"/>
                <a:cs typeface="Calibri" pitchFamily="34" charset="-120"/>
              </a:rPr>
              <a:t>REWARD VALUES ARE TUNABLE AT RUNTIME, NOT BAKED INTO THE APP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THE OTHER EXIT</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3000" b="1" dirty="0">
                <a:solidFill>
                  <a:srgbClr val="0B1410"/>
                </a:solidFill>
                <a:latin typeface="Cambria" pitchFamily="34" charset="0"/>
                <a:ea typeface="Cambria" pitchFamily="34" charset="-122"/>
                <a:cs typeface="Cambria" pitchFamily="34" charset="-120"/>
              </a:rPr>
              <a:t>Or the points go to a cause instead.</a:t>
            </a:r>
            <a:endParaRPr lang="en-US" sz="3000" dirty="0"/>
          </a:p>
        </p:txBody>
      </p:sp>
      <p:sp>
        <p:nvSpPr>
          <p:cNvPr id="4" name="Text 2"/>
          <p:cNvSpPr txBox="1"/>
          <p:nvPr/>
        </p:nvSpPr>
        <p:spPr>
          <a:xfrm>
            <a:off x="685800" y="1874520"/>
            <a:ext cx="7863840" cy="320040"/>
          </a:xfrm>
          <a:prstGeom prst="rect">
            <a:avLst/>
          </a:prstGeom>
          <a:noFill/>
          <a:ln/>
        </p:spPr>
        <p:txBody>
          <a:bodyPr wrap="square" lIns="0" tIns="0" rIns="0" bIns="0" rtlCol="0" anchor="t"/>
          <a:lstStyle/>
          <a:p>
            <a:pPr indent="0" marL="0">
              <a:lnSpc>
                <a:spcPct val="116000"/>
              </a:lnSpc>
              <a:buNone/>
            </a:pPr>
            <a:r>
              <a:rPr lang="en-US" sz="1400" dirty="0">
                <a:solidFill>
                  <a:srgbClr val="0B1410"/>
                </a:solidFill>
                <a:latin typeface="Calibri" pitchFamily="34" charset="0"/>
                <a:ea typeface="Calibri" pitchFamily="34" charset="-122"/>
                <a:cs typeface="Calibri" pitchFamily="34" charset="-120"/>
              </a:rPr>
              <a:t>Someone who would rather not shop can put what they earned straight into work on the ground.</a:t>
            </a:r>
            <a:endParaRPr lang="en-US" sz="1400" dirty="0"/>
          </a:p>
        </p:txBody>
      </p:sp>
      <p:sp>
        <p:nvSpPr>
          <p:cNvPr id="5" name="Shape 3"/>
          <p:cNvSpPr/>
          <p:nvPr/>
        </p:nvSpPr>
        <p:spPr>
          <a:xfrm>
            <a:off x="685800" y="2468880"/>
            <a:ext cx="3483864" cy="1481328"/>
          </a:xfrm>
          <a:prstGeom prst="roundRect">
            <a:avLst>
              <a:gd name="adj" fmla="val 3704"/>
            </a:avLst>
          </a:prstGeom>
          <a:solidFill>
            <a:srgbClr val="FFFFFF"/>
          </a:solidFill>
          <a:ln w="9525">
            <a:solidFill>
              <a:srgbClr val="D7E2DB"/>
            </a:solidFill>
            <a:prstDash val="solid"/>
          </a:ln>
        </p:spPr>
      </p:sp>
      <p:sp>
        <p:nvSpPr>
          <p:cNvPr id="6" name="Text 4"/>
          <p:cNvSpPr txBox="1"/>
          <p:nvPr/>
        </p:nvSpPr>
        <p:spPr>
          <a:xfrm>
            <a:off x="941832" y="2670048"/>
            <a:ext cx="29718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INITIATIVE 01</a:t>
            </a:r>
            <a:endParaRPr lang="en-US" sz="1050" dirty="0"/>
          </a:p>
        </p:txBody>
      </p:sp>
      <p:sp>
        <p:nvSpPr>
          <p:cNvPr id="7" name="Text 5"/>
          <p:cNvSpPr txBox="1"/>
          <p:nvPr/>
        </p:nvSpPr>
        <p:spPr>
          <a:xfrm>
            <a:off x="941832" y="2962656"/>
            <a:ext cx="2971800" cy="292608"/>
          </a:xfrm>
          <a:prstGeom prst="rect">
            <a:avLst/>
          </a:prstGeom>
          <a:noFill/>
          <a:ln/>
        </p:spPr>
        <p:txBody>
          <a:bodyPr wrap="square" lIns="0" tIns="0" rIns="0" bIns="0" rtlCol="0" anchor="t"/>
          <a:lstStyle/>
          <a:p>
            <a:pPr indent="0" marL="0">
              <a:buNone/>
            </a:pPr>
            <a:r>
              <a:rPr lang="en-US" sz="1400" b="1" dirty="0">
                <a:solidFill>
                  <a:srgbClr val="0B1410"/>
                </a:solidFill>
                <a:latin typeface="Cambria" pitchFamily="34" charset="0"/>
                <a:ea typeface="Cambria" pitchFamily="34" charset="-122"/>
                <a:cs typeface="Cambria" pitchFamily="34" charset="-120"/>
              </a:rPr>
              <a:t>Waste recovery</a:t>
            </a:r>
            <a:endParaRPr lang="en-US" sz="1400" dirty="0"/>
          </a:p>
        </p:txBody>
      </p:sp>
      <p:sp>
        <p:nvSpPr>
          <p:cNvPr id="8" name="Text 6"/>
          <p:cNvSpPr txBox="1"/>
          <p:nvPr/>
        </p:nvSpPr>
        <p:spPr>
          <a:xfrm>
            <a:off x="941832" y="3291840"/>
            <a:ext cx="2971800" cy="566928"/>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Getting more of what is thrown away back out of the stream.</a:t>
            </a:r>
            <a:endParaRPr lang="en-US" sz="1150" dirty="0"/>
          </a:p>
        </p:txBody>
      </p:sp>
      <p:sp>
        <p:nvSpPr>
          <p:cNvPr id="9" name="Shape 7"/>
          <p:cNvSpPr/>
          <p:nvPr/>
        </p:nvSpPr>
        <p:spPr>
          <a:xfrm>
            <a:off x="4352544" y="2468880"/>
            <a:ext cx="3483864" cy="1481328"/>
          </a:xfrm>
          <a:prstGeom prst="roundRect">
            <a:avLst>
              <a:gd name="adj" fmla="val 3704"/>
            </a:avLst>
          </a:prstGeom>
          <a:solidFill>
            <a:srgbClr val="FFFFFF"/>
          </a:solidFill>
          <a:ln w="9525">
            <a:solidFill>
              <a:srgbClr val="D7E2DB"/>
            </a:solidFill>
            <a:prstDash val="solid"/>
          </a:ln>
        </p:spPr>
      </p:sp>
      <p:sp>
        <p:nvSpPr>
          <p:cNvPr id="10" name="Text 8"/>
          <p:cNvSpPr txBox="1"/>
          <p:nvPr/>
        </p:nvSpPr>
        <p:spPr>
          <a:xfrm>
            <a:off x="4608576" y="2670048"/>
            <a:ext cx="29718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INITIATIVE 02</a:t>
            </a:r>
            <a:endParaRPr lang="en-US" sz="1050" dirty="0"/>
          </a:p>
        </p:txBody>
      </p:sp>
      <p:sp>
        <p:nvSpPr>
          <p:cNvPr id="11" name="Text 9"/>
          <p:cNvSpPr txBox="1"/>
          <p:nvPr/>
        </p:nvSpPr>
        <p:spPr>
          <a:xfrm>
            <a:off x="4608576" y="2962656"/>
            <a:ext cx="2971800" cy="292608"/>
          </a:xfrm>
          <a:prstGeom prst="rect">
            <a:avLst/>
          </a:prstGeom>
          <a:noFill/>
          <a:ln/>
        </p:spPr>
        <p:txBody>
          <a:bodyPr wrap="square" lIns="0" tIns="0" rIns="0" bIns="0" rtlCol="0" anchor="t"/>
          <a:lstStyle/>
          <a:p>
            <a:pPr indent="0" marL="0">
              <a:buNone/>
            </a:pPr>
            <a:r>
              <a:rPr lang="en-US" sz="1400" b="1" dirty="0">
                <a:solidFill>
                  <a:srgbClr val="0B1410"/>
                </a:solidFill>
                <a:latin typeface="Cambria" pitchFamily="34" charset="0"/>
                <a:ea typeface="Cambria" pitchFamily="34" charset="-122"/>
                <a:cs typeface="Cambria" pitchFamily="34" charset="-120"/>
              </a:rPr>
              <a:t>Tree planting</a:t>
            </a:r>
            <a:endParaRPr lang="en-US" sz="1400" dirty="0"/>
          </a:p>
        </p:txBody>
      </p:sp>
      <p:sp>
        <p:nvSpPr>
          <p:cNvPr id="12" name="Text 10"/>
          <p:cNvSpPr txBox="1"/>
          <p:nvPr/>
        </p:nvSpPr>
        <p:spPr>
          <a:xfrm>
            <a:off x="4608576" y="3291840"/>
            <a:ext cx="2971800" cy="566928"/>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The most legible thing a small contribution can add up to.</a:t>
            </a:r>
            <a:endParaRPr lang="en-US" sz="1150" dirty="0"/>
          </a:p>
        </p:txBody>
      </p:sp>
      <p:sp>
        <p:nvSpPr>
          <p:cNvPr id="13" name="Shape 11"/>
          <p:cNvSpPr/>
          <p:nvPr/>
        </p:nvSpPr>
        <p:spPr>
          <a:xfrm>
            <a:off x="8019288" y="2468880"/>
            <a:ext cx="3483864" cy="1481328"/>
          </a:xfrm>
          <a:prstGeom prst="roundRect">
            <a:avLst>
              <a:gd name="adj" fmla="val 3704"/>
            </a:avLst>
          </a:prstGeom>
          <a:solidFill>
            <a:srgbClr val="FFFFFF"/>
          </a:solidFill>
          <a:ln w="9525">
            <a:solidFill>
              <a:srgbClr val="D7E2DB"/>
            </a:solidFill>
            <a:prstDash val="solid"/>
          </a:ln>
        </p:spPr>
      </p:sp>
      <p:sp>
        <p:nvSpPr>
          <p:cNvPr id="14" name="Text 12"/>
          <p:cNvSpPr txBox="1"/>
          <p:nvPr/>
        </p:nvSpPr>
        <p:spPr>
          <a:xfrm>
            <a:off x="8275320" y="2670048"/>
            <a:ext cx="29718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INITIATIVE 03</a:t>
            </a:r>
            <a:endParaRPr lang="en-US" sz="1050" dirty="0"/>
          </a:p>
        </p:txBody>
      </p:sp>
      <p:sp>
        <p:nvSpPr>
          <p:cNvPr id="15" name="Text 13"/>
          <p:cNvSpPr txBox="1"/>
          <p:nvPr/>
        </p:nvSpPr>
        <p:spPr>
          <a:xfrm>
            <a:off x="8275320" y="2962656"/>
            <a:ext cx="2971800" cy="292608"/>
          </a:xfrm>
          <a:prstGeom prst="rect">
            <a:avLst/>
          </a:prstGeom>
          <a:noFill/>
          <a:ln/>
        </p:spPr>
        <p:txBody>
          <a:bodyPr wrap="square" lIns="0" tIns="0" rIns="0" bIns="0" rtlCol="0" anchor="t"/>
          <a:lstStyle/>
          <a:p>
            <a:pPr indent="0" marL="0">
              <a:buNone/>
            </a:pPr>
            <a:r>
              <a:rPr lang="en-US" sz="1400" b="1" dirty="0">
                <a:solidFill>
                  <a:srgbClr val="0B1410"/>
                </a:solidFill>
                <a:latin typeface="Cambria" pitchFamily="34" charset="0"/>
                <a:ea typeface="Cambria" pitchFamily="34" charset="-122"/>
                <a:cs typeface="Cambria" pitchFamily="34" charset="-120"/>
              </a:rPr>
              <a:t>Green entrepreneurship</a:t>
            </a:r>
            <a:endParaRPr lang="en-US" sz="1400" dirty="0"/>
          </a:p>
        </p:txBody>
      </p:sp>
      <p:sp>
        <p:nvSpPr>
          <p:cNvPr id="16" name="Text 14"/>
          <p:cNvSpPr txBox="1"/>
          <p:nvPr/>
        </p:nvSpPr>
        <p:spPr>
          <a:xfrm>
            <a:off x="8275320" y="3291840"/>
            <a:ext cx="2971800" cy="566928"/>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Backing the producers the marketplace exists for.</a:t>
            </a:r>
            <a:endParaRPr lang="en-US" sz="1150" dirty="0"/>
          </a:p>
        </p:txBody>
      </p:sp>
      <p:sp>
        <p:nvSpPr>
          <p:cNvPr id="17" name="Shape 15"/>
          <p:cNvSpPr/>
          <p:nvPr/>
        </p:nvSpPr>
        <p:spPr>
          <a:xfrm>
            <a:off x="685800" y="4279392"/>
            <a:ext cx="10820095" cy="10058"/>
          </a:xfrm>
          <a:prstGeom prst="rect">
            <a:avLst/>
          </a:prstGeom>
          <a:solidFill>
            <a:srgbClr val="D7E2DB"/>
          </a:solidFill>
          <a:ln/>
        </p:spPr>
      </p:sp>
      <p:sp>
        <p:nvSpPr>
          <p:cNvPr id="18" name="Text 16"/>
          <p:cNvSpPr txBox="1"/>
          <p:nvPr/>
        </p:nvSpPr>
        <p:spPr>
          <a:xfrm>
            <a:off x="685800" y="4462272"/>
            <a:ext cx="10820095" cy="320040"/>
          </a:xfrm>
          <a:prstGeom prst="rect">
            <a:avLst/>
          </a:prstGeom>
          <a:noFill/>
          <a:ln/>
        </p:spPr>
        <p:txBody>
          <a:bodyPr wrap="square" lIns="0" tIns="0" rIns="0" bIns="0" rtlCol="0" anchor="ctr"/>
          <a:lstStyle/>
          <a:p>
            <a:pPr indent="0" marL="0">
              <a:buNone/>
            </a:pPr>
            <a:r>
              <a:rPr lang="en-US" sz="1250" dirty="0">
                <a:solidFill>
                  <a:srgbClr val="0B1410"/>
                </a:solidFill>
                <a:latin typeface="Calibri" pitchFamily="34" charset="0"/>
                <a:ea typeface="Calibri" pitchFamily="34" charset="-122"/>
                <a:cs typeface="Calibri" pitchFamily="34" charset="-120"/>
              </a:rPr>
              <a:t>Choose whole points, see the effect on the balance, confirm once.          </a:t>
            </a:r>
            <a:pPr indent="0" marL="0">
              <a:buNone/>
            </a:pPr>
            <a:r>
              <a:rPr lang="en-US" sz="1250" dirty="0">
                <a:solidFill>
                  <a:srgbClr val="55655D"/>
                </a:solidFill>
                <a:latin typeface="Calibri" pitchFamily="34" charset="0"/>
                <a:ea typeface="Calibri" pitchFamily="34" charset="-122"/>
                <a:cs typeface="Calibri" pitchFamily="34" charset="-120"/>
              </a:rPr>
              <a:t>Retrying a confirmation never gives twice.</a:t>
            </a:r>
            <a:endParaRPr lang="en-US" sz="1250" dirty="0"/>
          </a:p>
        </p:txBody>
      </p:sp>
      <p:sp>
        <p:nvSpPr>
          <p:cNvPr id="19" name="Shape 17"/>
          <p:cNvSpPr/>
          <p:nvPr/>
        </p:nvSpPr>
        <p:spPr>
          <a:xfrm>
            <a:off x="685800" y="5029200"/>
            <a:ext cx="10820095" cy="1051560"/>
          </a:xfrm>
          <a:prstGeom prst="roundRect">
            <a:avLst>
              <a:gd name="adj" fmla="val 4348"/>
            </a:avLst>
          </a:prstGeom>
          <a:solidFill>
            <a:srgbClr val="E8F0EB"/>
          </a:solidFill>
          <a:ln/>
        </p:spPr>
      </p:sp>
      <p:sp>
        <p:nvSpPr>
          <p:cNvPr id="20" name="Text 18"/>
          <p:cNvSpPr txBox="1"/>
          <p:nvPr/>
        </p:nvSpPr>
        <p:spPr>
          <a:xfrm>
            <a:off x="960120" y="5266944"/>
            <a:ext cx="10271455" cy="603504"/>
          </a:xfrm>
          <a:prstGeom prst="rect">
            <a:avLst/>
          </a:prstGeom>
          <a:noFill/>
          <a:ln/>
        </p:spPr>
        <p:txBody>
          <a:bodyPr wrap="square" lIns="0" tIns="0" rIns="0" bIns="0" rtlCol="0" anchor="t"/>
          <a:lstStyle/>
          <a:p>
            <a:pPr indent="0" marL="0">
              <a:lnSpc>
                <a:spcPct val="114000"/>
              </a:lnSpc>
              <a:buNone/>
            </a:pPr>
            <a:r>
              <a:rPr lang="en-US" sz="1200" b="1" dirty="0">
                <a:solidFill>
                  <a:srgbClr val="006C4C"/>
                </a:solidFill>
                <a:latin typeface="Calibri" pitchFamily="34" charset="0"/>
                <a:ea typeface="Calibri" pitchFamily="34" charset="-122"/>
                <a:cs typeface="Calibri" pitchFamily="34" charset="-120"/>
              </a:rPr>
              <a:t>Said plainly: </a:t>
            </a:r>
            <a:pPr indent="0" marL="0">
              <a:lnSpc>
                <a:spcPct val="114000"/>
              </a:lnSpc>
              <a:buNone/>
            </a:pPr>
            <a:r>
              <a:rPr lang="en-US" sz="1200" dirty="0">
                <a:solidFill>
                  <a:srgbClr val="0B1410"/>
                </a:solidFill>
                <a:latin typeface="Calibri" pitchFamily="34" charset="0"/>
                <a:ea typeface="Calibri" pitchFamily="34" charset="-122"/>
                <a:cs typeface="Calibri" pitchFamily="34" charset="-120"/>
              </a:rPr>
              <a:t>online giving through bKash, Nagad and card is built as a complete journey, and in this prototype it moves no real money and collects no card details. Point donations are real point movements; they are not cash and not tax-deductible.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WHO USES IT</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3000" b="1" dirty="0">
                <a:solidFill>
                  <a:srgbClr val="0B1410"/>
                </a:solidFill>
                <a:latin typeface="Cambria" pitchFamily="34" charset="0"/>
                <a:ea typeface="Cambria" pitchFamily="34" charset="-122"/>
                <a:cs typeface="Cambria" pitchFamily="34" charset="-120"/>
              </a:rPr>
              <a:t>Three kinds of people, one app, one account each.</a:t>
            </a:r>
            <a:endParaRPr lang="en-US" sz="3000" dirty="0"/>
          </a:p>
        </p:txBody>
      </p:sp>
      <p:sp>
        <p:nvSpPr>
          <p:cNvPr id="4" name="Shape 2"/>
          <p:cNvSpPr/>
          <p:nvPr/>
        </p:nvSpPr>
        <p:spPr>
          <a:xfrm>
            <a:off x="685800" y="2103120"/>
            <a:ext cx="10820095" cy="10058"/>
          </a:xfrm>
          <a:prstGeom prst="rect">
            <a:avLst/>
          </a:prstGeom>
          <a:solidFill>
            <a:srgbClr val="D7E2DB"/>
          </a:solidFill>
          <a:ln/>
        </p:spPr>
      </p:sp>
      <p:sp>
        <p:nvSpPr>
          <p:cNvPr id="5" name="Shape 3"/>
          <p:cNvSpPr/>
          <p:nvPr/>
        </p:nvSpPr>
        <p:spPr>
          <a:xfrm>
            <a:off x="685800" y="2295144"/>
            <a:ext cx="365760" cy="365760"/>
          </a:xfrm>
          <a:prstGeom prst="ellipse">
            <a:avLst/>
          </a:prstGeom>
          <a:solidFill>
            <a:srgbClr val="006C4C"/>
          </a:solidFill>
          <a:ln/>
        </p:spPr>
      </p:sp>
      <p:sp>
        <p:nvSpPr>
          <p:cNvPr id="6" name="Text 4"/>
          <p:cNvSpPr txBox="1"/>
          <p:nvPr/>
        </p:nvSpPr>
        <p:spPr>
          <a:xfrm>
            <a:off x="685800" y="22951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7" name="Text 5"/>
          <p:cNvSpPr txBox="1"/>
          <p:nvPr/>
        </p:nvSpPr>
        <p:spPr>
          <a:xfrm>
            <a:off x="1234440" y="2331720"/>
            <a:ext cx="2286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3ZERO CHAMPION</a:t>
            </a:r>
            <a:endParaRPr lang="en-US" sz="1050" dirty="0"/>
          </a:p>
        </p:txBody>
      </p:sp>
      <p:sp>
        <p:nvSpPr>
          <p:cNvPr id="8" name="Text 6"/>
          <p:cNvSpPr txBox="1"/>
          <p:nvPr/>
        </p:nvSpPr>
        <p:spPr>
          <a:xfrm>
            <a:off x="3749040" y="2313432"/>
            <a:ext cx="7726680" cy="731520"/>
          </a:xfrm>
          <a:prstGeom prst="rect">
            <a:avLst/>
          </a:prstGeom>
          <a:noFill/>
          <a:ln/>
        </p:spPr>
        <p:txBody>
          <a:bodyPr wrap="square" lIns="0" tIns="0" rIns="0" bIns="0" rtlCol="0" anchor="t"/>
          <a:lstStyle/>
          <a:p>
            <a:pPr indent="0" marL="0">
              <a:lnSpc>
                <a:spcPct val="116000"/>
              </a:lnSpc>
              <a:buNone/>
            </a:pPr>
            <a:r>
              <a:rPr lang="en-US" sz="1250" b="1" dirty="0">
                <a:solidFill>
                  <a:srgbClr val="0B1410"/>
                </a:solidFill>
                <a:latin typeface="Calibri" pitchFamily="34" charset="0"/>
                <a:ea typeface="Calibri" pitchFamily="34" charset="-122"/>
                <a:cs typeface="Calibri" pitchFamily="34" charset="-120"/>
              </a:rPr>
              <a:t>Everyone starts here.</a:t>
            </a:r>
            <a:pPr indent="0" marL="0">
              <a:lnSpc>
                <a:spcPct val="116000"/>
              </a:lnSpc>
              <a:buNone/>
            </a:pPr>
            <a:r>
              <a:rPr lang="en-US" sz="1250" dirty="0">
                <a:solidFill>
                  <a:srgbClr val="0B1410"/>
                </a:solidFill>
                <a:latin typeface="Calibri" pitchFamily="34" charset="0"/>
                <a:ea typeface="Calibri" pitchFamily="34" charset="-122"/>
                <a:cs typeface="Calibri" pitchFamily="34" charset="-120"/>
              </a:rPr>
              <a:t> Dispose, earn, spend, give — and read about becoming an entrepreneur when they are ready to.</a:t>
            </a:r>
            <a:endParaRPr lang="en-US" sz="1250" dirty="0"/>
          </a:p>
        </p:txBody>
      </p:sp>
      <p:sp>
        <p:nvSpPr>
          <p:cNvPr id="9" name="Shape 7"/>
          <p:cNvSpPr/>
          <p:nvPr/>
        </p:nvSpPr>
        <p:spPr>
          <a:xfrm>
            <a:off x="685800" y="3044952"/>
            <a:ext cx="10820095" cy="10058"/>
          </a:xfrm>
          <a:prstGeom prst="rect">
            <a:avLst/>
          </a:prstGeom>
          <a:solidFill>
            <a:srgbClr val="D7E2DB"/>
          </a:solidFill>
          <a:ln/>
        </p:spPr>
      </p:sp>
      <p:sp>
        <p:nvSpPr>
          <p:cNvPr id="10" name="Shape 8"/>
          <p:cNvSpPr/>
          <p:nvPr/>
        </p:nvSpPr>
        <p:spPr>
          <a:xfrm>
            <a:off x="685800" y="3191256"/>
            <a:ext cx="365760" cy="365760"/>
          </a:xfrm>
          <a:prstGeom prst="ellipse">
            <a:avLst/>
          </a:prstGeom>
          <a:solidFill>
            <a:srgbClr val="006C4C"/>
          </a:solidFill>
          <a:ln/>
        </p:spPr>
      </p:sp>
      <p:sp>
        <p:nvSpPr>
          <p:cNvPr id="11" name="Text 9"/>
          <p:cNvSpPr txBox="1"/>
          <p:nvPr/>
        </p:nvSpPr>
        <p:spPr>
          <a:xfrm>
            <a:off x="685800" y="31912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12" name="Text 10"/>
          <p:cNvSpPr txBox="1"/>
          <p:nvPr/>
        </p:nvSpPr>
        <p:spPr>
          <a:xfrm>
            <a:off x="1234440" y="3227832"/>
            <a:ext cx="2286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3ZERO GREENPRENEUR</a:t>
            </a:r>
            <a:endParaRPr lang="en-US" sz="1050" dirty="0"/>
          </a:p>
        </p:txBody>
      </p:sp>
      <p:sp>
        <p:nvSpPr>
          <p:cNvPr id="13" name="Text 11"/>
          <p:cNvSpPr txBox="1"/>
          <p:nvPr/>
        </p:nvSpPr>
        <p:spPr>
          <a:xfrm>
            <a:off x="3749040" y="3209544"/>
            <a:ext cx="7726680" cy="731520"/>
          </a:xfrm>
          <a:prstGeom prst="rect">
            <a:avLst/>
          </a:prstGeom>
          <a:noFill/>
          <a:ln/>
        </p:spPr>
        <p:txBody>
          <a:bodyPr wrap="square" lIns="0" tIns="0" rIns="0" bIns="0" rtlCol="0" anchor="t"/>
          <a:lstStyle/>
          <a:p>
            <a:pPr indent="0" marL="0">
              <a:lnSpc>
                <a:spcPct val="116000"/>
              </a:lnSpc>
              <a:buNone/>
            </a:pPr>
            <a:r>
              <a:rPr lang="en-US" sz="1250" b="1" dirty="0">
                <a:solidFill>
                  <a:srgbClr val="0B1410"/>
                </a:solidFill>
                <a:latin typeface="Calibri" pitchFamily="34" charset="0"/>
                <a:ea typeface="Calibri" pitchFamily="34" charset="-122"/>
                <a:cs typeface="Calibri" pitchFamily="34" charset="-120"/>
              </a:rPr>
              <a:t>Still a Champion too.</a:t>
            </a:r>
            <a:pPr indent="0" marL="0">
              <a:lnSpc>
                <a:spcPct val="116000"/>
              </a:lnSpc>
              <a:buNone/>
            </a:pPr>
            <a:r>
              <a:rPr lang="en-US" sz="1250" dirty="0">
                <a:solidFill>
                  <a:srgbClr val="0B1410"/>
                </a:solidFill>
                <a:latin typeface="Calibri" pitchFamily="34" charset="0"/>
                <a:ea typeface="Calibri" pitchFamily="34" charset="-122"/>
                <a:cs typeface="Calibri" pitchFamily="34" charset="-120"/>
              </a:rPr>
              <a:t> Lists products, manages stock, moves orders along. Applies through the app; an admin approves.</a:t>
            </a:r>
            <a:endParaRPr lang="en-US" sz="1250" dirty="0"/>
          </a:p>
        </p:txBody>
      </p:sp>
      <p:sp>
        <p:nvSpPr>
          <p:cNvPr id="14" name="Shape 12"/>
          <p:cNvSpPr/>
          <p:nvPr/>
        </p:nvSpPr>
        <p:spPr>
          <a:xfrm>
            <a:off x="685800" y="3941064"/>
            <a:ext cx="10820095" cy="10058"/>
          </a:xfrm>
          <a:prstGeom prst="rect">
            <a:avLst/>
          </a:prstGeom>
          <a:solidFill>
            <a:srgbClr val="D7E2DB"/>
          </a:solidFill>
          <a:ln/>
        </p:spPr>
      </p:sp>
      <p:sp>
        <p:nvSpPr>
          <p:cNvPr id="15" name="Shape 13"/>
          <p:cNvSpPr/>
          <p:nvPr/>
        </p:nvSpPr>
        <p:spPr>
          <a:xfrm>
            <a:off x="685800" y="4087368"/>
            <a:ext cx="365760" cy="365760"/>
          </a:xfrm>
          <a:prstGeom prst="ellipse">
            <a:avLst/>
          </a:prstGeom>
          <a:solidFill>
            <a:srgbClr val="006C4C"/>
          </a:solidFill>
          <a:ln/>
        </p:spPr>
      </p:sp>
      <p:sp>
        <p:nvSpPr>
          <p:cNvPr id="16" name="Text 14"/>
          <p:cNvSpPr txBox="1"/>
          <p:nvPr/>
        </p:nvSpPr>
        <p:spPr>
          <a:xfrm>
            <a:off x="685800" y="40873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7" name="Text 15"/>
          <p:cNvSpPr txBox="1"/>
          <p:nvPr/>
        </p:nvSpPr>
        <p:spPr>
          <a:xfrm>
            <a:off x="1234440" y="4123944"/>
            <a:ext cx="228600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3ZERO ADMIN</a:t>
            </a:r>
            <a:endParaRPr lang="en-US" sz="1050" dirty="0"/>
          </a:p>
        </p:txBody>
      </p:sp>
      <p:sp>
        <p:nvSpPr>
          <p:cNvPr id="18" name="Text 16"/>
          <p:cNvSpPr txBox="1"/>
          <p:nvPr/>
        </p:nvSpPr>
        <p:spPr>
          <a:xfrm>
            <a:off x="3749040" y="4105656"/>
            <a:ext cx="7726680" cy="731520"/>
          </a:xfrm>
          <a:prstGeom prst="rect">
            <a:avLst/>
          </a:prstGeom>
          <a:noFill/>
          <a:ln/>
        </p:spPr>
        <p:txBody>
          <a:bodyPr wrap="square" lIns="0" tIns="0" rIns="0" bIns="0" rtlCol="0" anchor="t"/>
          <a:lstStyle/>
          <a:p>
            <a:pPr indent="0" marL="0">
              <a:lnSpc>
                <a:spcPct val="116000"/>
              </a:lnSpc>
              <a:buNone/>
            </a:pPr>
            <a:r>
              <a:rPr lang="en-US" sz="1250" b="1" dirty="0">
                <a:solidFill>
                  <a:srgbClr val="0B1410"/>
                </a:solidFill>
                <a:latin typeface="Calibri" pitchFamily="34" charset="0"/>
                <a:ea typeface="Calibri" pitchFamily="34" charset="-122"/>
                <a:cs typeface="Calibri" pitchFamily="34" charset="-120"/>
              </a:rPr>
              <a:t>Holds all three.</a:t>
            </a:r>
            <a:pPr indent="0" marL="0">
              <a:lnSpc>
                <a:spcPct val="116000"/>
              </a:lnSpc>
              <a:buNone/>
            </a:pPr>
            <a:r>
              <a:rPr lang="en-US" sz="1250" dirty="0">
                <a:solidFill>
                  <a:srgbClr val="0B1410"/>
                </a:solidFill>
                <a:latin typeface="Calibri" pitchFamily="34" charset="0"/>
                <a:ea typeface="Calibri" pitchFamily="34" charset="-122"/>
                <a:cs typeface="Calibri" pitchFamily="34" charset="-120"/>
              </a:rPr>
              <a:t> Registers bins and prints their labels, works through whatever got flagged, tunes the reward values, suspends abuse, and watches the totals.</a:t>
            </a:r>
            <a:endParaRPr lang="en-US" sz="1250" dirty="0"/>
          </a:p>
        </p:txBody>
      </p:sp>
      <p:sp>
        <p:nvSpPr>
          <p:cNvPr id="19" name="Shape 17"/>
          <p:cNvSpPr/>
          <p:nvPr/>
        </p:nvSpPr>
        <p:spPr>
          <a:xfrm>
            <a:off x="685800" y="4837176"/>
            <a:ext cx="10820095" cy="10058"/>
          </a:xfrm>
          <a:prstGeom prst="rect">
            <a:avLst/>
          </a:prstGeom>
          <a:solidFill>
            <a:srgbClr val="D7E2DB"/>
          </a:solidFill>
          <a:ln/>
        </p:spPr>
      </p:sp>
      <p:sp>
        <p:nvSpPr>
          <p:cNvPr id="20" name="Text 18"/>
          <p:cNvSpPr txBox="1"/>
          <p:nvPr/>
        </p:nvSpPr>
        <p:spPr>
          <a:xfrm>
            <a:off x="685800" y="5349240"/>
            <a:ext cx="8778240" cy="868680"/>
          </a:xfrm>
          <a:prstGeom prst="rect">
            <a:avLst/>
          </a:prstGeom>
          <a:noFill/>
          <a:ln/>
        </p:spPr>
        <p:txBody>
          <a:bodyPr wrap="square" lIns="0" tIns="0" rIns="0" bIns="0" rtlCol="0" anchor="t"/>
          <a:lstStyle/>
          <a:p>
            <a:pPr indent="0" marL="0">
              <a:lnSpc>
                <a:spcPct val="114000"/>
              </a:lnSpc>
              <a:buNone/>
            </a:pPr>
            <a:r>
              <a:rPr lang="en-US" sz="1700" dirty="0">
                <a:solidFill>
                  <a:srgbClr val="0B1410"/>
                </a:solidFill>
                <a:latin typeface="Cambria" pitchFamily="34" charset="0"/>
                <a:ea typeface="Cambria" pitchFamily="34" charset="-122"/>
                <a:cs typeface="Cambria" pitchFamily="34" charset="-120"/>
              </a:rPr>
              <a:t>You do not juggle three accounts. You switch workspace — and what you are permitted to do never changes with the view you are in.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STATUS</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3200" b="1" dirty="0">
                <a:solidFill>
                  <a:srgbClr val="0B1410"/>
                </a:solidFill>
                <a:latin typeface="Cambria" pitchFamily="34" charset="0"/>
                <a:ea typeface="Cambria" pitchFamily="34" charset="-122"/>
                <a:cs typeface="Cambria" pitchFamily="34" charset="-120"/>
              </a:rPr>
              <a:t>This is not a concept. It runs.</a:t>
            </a:r>
            <a:endParaRPr lang="en-US" sz="3200" dirty="0"/>
          </a:p>
        </p:txBody>
      </p:sp>
      <p:sp>
        <p:nvSpPr>
          <p:cNvPr id="4" name="Shape 2"/>
          <p:cNvSpPr/>
          <p:nvPr/>
        </p:nvSpPr>
        <p:spPr>
          <a:xfrm>
            <a:off x="685800" y="2057400"/>
            <a:ext cx="10820095" cy="10058"/>
          </a:xfrm>
          <a:prstGeom prst="rect">
            <a:avLst/>
          </a:prstGeom>
          <a:solidFill>
            <a:srgbClr val="D7E2DB"/>
          </a:solidFill>
          <a:ln/>
        </p:spPr>
      </p:sp>
      <p:sp>
        <p:nvSpPr>
          <p:cNvPr id="5" name="Text 3"/>
          <p:cNvSpPr txBox="1"/>
          <p:nvPr/>
        </p:nvSpPr>
        <p:spPr>
          <a:xfrm>
            <a:off x="685800" y="2240280"/>
            <a:ext cx="2587752" cy="685800"/>
          </a:xfrm>
          <a:prstGeom prst="rect">
            <a:avLst/>
          </a:prstGeom>
          <a:noFill/>
          <a:ln/>
        </p:spPr>
        <p:txBody>
          <a:bodyPr wrap="square" lIns="0" tIns="0" rIns="0" bIns="0" rtlCol="0" anchor="t"/>
          <a:lstStyle/>
          <a:p>
            <a:pPr indent="0" marL="0">
              <a:buNone/>
            </a:pPr>
            <a:r>
              <a:rPr lang="en-US" sz="4200" b="1" dirty="0">
                <a:solidFill>
                  <a:srgbClr val="0B1410"/>
                </a:solidFill>
                <a:latin typeface="Cambria" pitchFamily="34" charset="0"/>
                <a:ea typeface="Cambria" pitchFamily="34" charset="-122"/>
                <a:cs typeface="Cambria" pitchFamily="34" charset="-120"/>
              </a:rPr>
              <a:t>40</a:t>
            </a:r>
            <a:endParaRPr lang="en-US" sz="4200" dirty="0"/>
          </a:p>
        </p:txBody>
      </p:sp>
      <p:sp>
        <p:nvSpPr>
          <p:cNvPr id="6" name="Text 4"/>
          <p:cNvSpPr txBox="1"/>
          <p:nvPr/>
        </p:nvSpPr>
        <p:spPr>
          <a:xfrm>
            <a:off x="685800" y="2962656"/>
            <a:ext cx="2587752" cy="274320"/>
          </a:xfrm>
          <a:prstGeom prst="rect">
            <a:avLst/>
          </a:prstGeom>
          <a:noFill/>
          <a:ln/>
        </p:spPr>
        <p:txBody>
          <a:bodyPr wrap="square" lIns="0" tIns="0" rIns="0" bIns="0" rtlCol="0" anchor="t"/>
          <a:lstStyle/>
          <a:p>
            <a:pPr indent="0" marL="0">
              <a:buNone/>
            </a:pPr>
            <a:r>
              <a:rPr lang="en-US" sz="950" b="1" spc="120" kern="0" dirty="0">
                <a:solidFill>
                  <a:srgbClr val="006C4C"/>
                </a:solidFill>
                <a:latin typeface="Calibri" pitchFamily="34" charset="0"/>
                <a:ea typeface="Calibri" pitchFamily="34" charset="-122"/>
                <a:cs typeface="Calibri" pitchFamily="34" charset="-120"/>
              </a:rPr>
              <a:t>FEATURES BUILT</a:t>
            </a:r>
            <a:endParaRPr lang="en-US" sz="950" dirty="0"/>
          </a:p>
        </p:txBody>
      </p:sp>
      <p:sp>
        <p:nvSpPr>
          <p:cNvPr id="7" name="Text 5"/>
          <p:cNvSpPr txBox="1"/>
          <p:nvPr/>
        </p:nvSpPr>
        <p:spPr>
          <a:xfrm>
            <a:off x="685800" y="3273552"/>
            <a:ext cx="2587752" cy="91440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Identity, disposal, points, marketplace, admin, self-reported actions, notifications.</a:t>
            </a:r>
            <a:endParaRPr lang="en-US" sz="1150" dirty="0"/>
          </a:p>
        </p:txBody>
      </p:sp>
      <p:sp>
        <p:nvSpPr>
          <p:cNvPr id="8" name="Text 6"/>
          <p:cNvSpPr txBox="1"/>
          <p:nvPr/>
        </p:nvSpPr>
        <p:spPr>
          <a:xfrm>
            <a:off x="3429000" y="2240280"/>
            <a:ext cx="2587752" cy="685800"/>
          </a:xfrm>
          <a:prstGeom prst="rect">
            <a:avLst/>
          </a:prstGeom>
          <a:noFill/>
          <a:ln/>
        </p:spPr>
        <p:txBody>
          <a:bodyPr wrap="square" lIns="0" tIns="0" rIns="0" bIns="0" rtlCol="0" anchor="t"/>
          <a:lstStyle/>
          <a:p>
            <a:pPr indent="0" marL="0">
              <a:buNone/>
            </a:pPr>
            <a:r>
              <a:rPr lang="en-US" sz="4200" b="1" dirty="0">
                <a:solidFill>
                  <a:srgbClr val="0B1410"/>
                </a:solidFill>
                <a:latin typeface="Cambria" pitchFamily="34" charset="0"/>
                <a:ea typeface="Cambria" pitchFamily="34" charset="-122"/>
                <a:cs typeface="Cambria" pitchFamily="34" charset="-120"/>
              </a:rPr>
              <a:t>2</a:t>
            </a:r>
            <a:endParaRPr lang="en-US" sz="4200" dirty="0"/>
          </a:p>
        </p:txBody>
      </p:sp>
      <p:sp>
        <p:nvSpPr>
          <p:cNvPr id="9" name="Text 7"/>
          <p:cNvSpPr txBox="1"/>
          <p:nvPr/>
        </p:nvSpPr>
        <p:spPr>
          <a:xfrm>
            <a:off x="3429000" y="2962656"/>
            <a:ext cx="2587752" cy="274320"/>
          </a:xfrm>
          <a:prstGeom prst="rect">
            <a:avLst/>
          </a:prstGeom>
          <a:noFill/>
          <a:ln/>
        </p:spPr>
        <p:txBody>
          <a:bodyPr wrap="square" lIns="0" tIns="0" rIns="0" bIns="0" rtlCol="0" anchor="t"/>
          <a:lstStyle/>
          <a:p>
            <a:pPr indent="0" marL="0">
              <a:buNone/>
            </a:pPr>
            <a:r>
              <a:rPr lang="en-US" sz="950" b="1" spc="120" kern="0" dirty="0">
                <a:solidFill>
                  <a:srgbClr val="006C4C"/>
                </a:solidFill>
                <a:latin typeface="Calibri" pitchFamily="34" charset="0"/>
                <a:ea typeface="Calibri" pitchFamily="34" charset="-122"/>
                <a:cs typeface="Calibri" pitchFamily="34" charset="-120"/>
              </a:rPr>
              <a:t>PLATFORMS, ONE CODEBASE</a:t>
            </a:r>
            <a:endParaRPr lang="en-US" sz="950" dirty="0"/>
          </a:p>
        </p:txBody>
      </p:sp>
      <p:sp>
        <p:nvSpPr>
          <p:cNvPr id="10" name="Text 8"/>
          <p:cNvSpPr txBox="1"/>
          <p:nvPr/>
        </p:nvSpPr>
        <p:spPr>
          <a:xfrm>
            <a:off x="3429000" y="3273552"/>
            <a:ext cx="2587752" cy="91440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Android and the browser, with no forked logic between them.</a:t>
            </a:r>
            <a:endParaRPr lang="en-US" sz="1150" dirty="0"/>
          </a:p>
        </p:txBody>
      </p:sp>
      <p:sp>
        <p:nvSpPr>
          <p:cNvPr id="11" name="Text 9"/>
          <p:cNvSpPr txBox="1"/>
          <p:nvPr/>
        </p:nvSpPr>
        <p:spPr>
          <a:xfrm>
            <a:off x="6172200" y="2240280"/>
            <a:ext cx="2587752" cy="685800"/>
          </a:xfrm>
          <a:prstGeom prst="rect">
            <a:avLst/>
          </a:prstGeom>
          <a:noFill/>
          <a:ln/>
        </p:spPr>
        <p:txBody>
          <a:bodyPr wrap="square" lIns="0" tIns="0" rIns="0" bIns="0" rtlCol="0" anchor="t"/>
          <a:lstStyle/>
          <a:p>
            <a:pPr indent="0" marL="0">
              <a:buNone/>
            </a:pPr>
            <a:r>
              <a:rPr lang="en-US" sz="4200" b="1" dirty="0">
                <a:solidFill>
                  <a:srgbClr val="0B1410"/>
                </a:solidFill>
                <a:latin typeface="Cambria" pitchFamily="34" charset="0"/>
                <a:ea typeface="Cambria" pitchFamily="34" charset="-122"/>
                <a:cs typeface="Cambria" pitchFamily="34" charset="-120"/>
              </a:rPr>
              <a:t>1,130</a:t>
            </a:r>
            <a:endParaRPr lang="en-US" sz="4200" dirty="0"/>
          </a:p>
        </p:txBody>
      </p:sp>
      <p:sp>
        <p:nvSpPr>
          <p:cNvPr id="12" name="Text 10"/>
          <p:cNvSpPr txBox="1"/>
          <p:nvPr/>
        </p:nvSpPr>
        <p:spPr>
          <a:xfrm>
            <a:off x="6172200" y="2962656"/>
            <a:ext cx="2587752" cy="274320"/>
          </a:xfrm>
          <a:prstGeom prst="rect">
            <a:avLst/>
          </a:prstGeom>
          <a:noFill/>
          <a:ln/>
        </p:spPr>
        <p:txBody>
          <a:bodyPr wrap="square" lIns="0" tIns="0" rIns="0" bIns="0" rtlCol="0" anchor="t"/>
          <a:lstStyle/>
          <a:p>
            <a:pPr indent="0" marL="0">
              <a:buNone/>
            </a:pPr>
            <a:r>
              <a:rPr lang="en-US" sz="950" b="1" spc="120" kern="0" dirty="0">
                <a:solidFill>
                  <a:srgbClr val="006C4C"/>
                </a:solidFill>
                <a:latin typeface="Calibri" pitchFamily="34" charset="0"/>
                <a:ea typeface="Calibri" pitchFamily="34" charset="-122"/>
                <a:cs typeface="Calibri" pitchFamily="34" charset="-120"/>
              </a:rPr>
              <a:t>AUTOMATED TESTS</a:t>
            </a:r>
            <a:endParaRPr lang="en-US" sz="950" dirty="0"/>
          </a:p>
        </p:txBody>
      </p:sp>
      <p:sp>
        <p:nvSpPr>
          <p:cNvPr id="13" name="Text 11"/>
          <p:cNvSpPr txBox="1"/>
          <p:nvPr/>
        </p:nvSpPr>
        <p:spPr>
          <a:xfrm>
            <a:off x="6172200" y="3273552"/>
            <a:ext cx="2587752" cy="91440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616 on the app, 282 on the service, 232 on the security rules.</a:t>
            </a:r>
            <a:endParaRPr lang="en-US" sz="1150" dirty="0"/>
          </a:p>
        </p:txBody>
      </p:sp>
      <p:sp>
        <p:nvSpPr>
          <p:cNvPr id="14" name="Text 12"/>
          <p:cNvSpPr txBox="1"/>
          <p:nvPr/>
        </p:nvSpPr>
        <p:spPr>
          <a:xfrm>
            <a:off x="8915400" y="2240280"/>
            <a:ext cx="2587752" cy="685800"/>
          </a:xfrm>
          <a:prstGeom prst="rect">
            <a:avLst/>
          </a:prstGeom>
          <a:noFill/>
          <a:ln/>
        </p:spPr>
        <p:txBody>
          <a:bodyPr wrap="square" lIns="0" tIns="0" rIns="0" bIns="0" rtlCol="0" anchor="t"/>
          <a:lstStyle/>
          <a:p>
            <a:pPr indent="0" marL="0">
              <a:buNone/>
            </a:pPr>
            <a:r>
              <a:rPr lang="en-US" sz="4200" b="1" dirty="0">
                <a:solidFill>
                  <a:srgbClr val="0B1410"/>
                </a:solidFill>
                <a:latin typeface="Cambria" pitchFamily="34" charset="0"/>
                <a:ea typeface="Cambria" pitchFamily="34" charset="-122"/>
                <a:cs typeface="Cambria" pitchFamily="34" charset="-120"/>
              </a:rPr>
              <a:t>41k</a:t>
            </a:r>
            <a:endParaRPr lang="en-US" sz="4200" dirty="0"/>
          </a:p>
        </p:txBody>
      </p:sp>
      <p:sp>
        <p:nvSpPr>
          <p:cNvPr id="15" name="Text 13"/>
          <p:cNvSpPr txBox="1"/>
          <p:nvPr/>
        </p:nvSpPr>
        <p:spPr>
          <a:xfrm>
            <a:off x="8915400" y="2962656"/>
            <a:ext cx="2587752" cy="274320"/>
          </a:xfrm>
          <a:prstGeom prst="rect">
            <a:avLst/>
          </a:prstGeom>
          <a:noFill/>
          <a:ln/>
        </p:spPr>
        <p:txBody>
          <a:bodyPr wrap="square" lIns="0" tIns="0" rIns="0" bIns="0" rtlCol="0" anchor="t"/>
          <a:lstStyle/>
          <a:p>
            <a:pPr indent="0" marL="0">
              <a:buNone/>
            </a:pPr>
            <a:r>
              <a:rPr lang="en-US" sz="950" b="1" spc="120" kern="0" dirty="0">
                <a:solidFill>
                  <a:srgbClr val="006C4C"/>
                </a:solidFill>
                <a:latin typeface="Calibri" pitchFamily="34" charset="0"/>
                <a:ea typeface="Calibri" pitchFamily="34" charset="-122"/>
                <a:cs typeface="Calibri" pitchFamily="34" charset="-120"/>
              </a:rPr>
              <a:t>LINES OF PRODUCT CODE</a:t>
            </a:r>
            <a:endParaRPr lang="en-US" sz="950" dirty="0"/>
          </a:p>
        </p:txBody>
      </p:sp>
      <p:sp>
        <p:nvSpPr>
          <p:cNvPr id="16" name="Text 14"/>
          <p:cNvSpPr txBox="1"/>
          <p:nvPr/>
        </p:nvSpPr>
        <p:spPr>
          <a:xfrm>
            <a:off x="8915400" y="3273552"/>
            <a:ext cx="2587752" cy="914400"/>
          </a:xfrm>
          <a:prstGeom prst="rect">
            <a:avLst/>
          </a:prstGeom>
          <a:noFill/>
          <a:ln/>
        </p:spPr>
        <p:txBody>
          <a:bodyPr wrap="square" lIns="0" tIns="0" rIns="0" bIns="0" rtlCol="0" anchor="t"/>
          <a:lstStyle/>
          <a:p>
            <a:pPr indent="0" marL="0">
              <a:lnSpc>
                <a:spcPct val="116000"/>
              </a:lnSpc>
              <a:buNone/>
            </a:pPr>
            <a:r>
              <a:rPr lang="en-US" sz="1150" dirty="0">
                <a:solidFill>
                  <a:srgbClr val="0B1410"/>
                </a:solidFill>
                <a:latin typeface="Calibri" pitchFamily="34" charset="0"/>
                <a:ea typeface="Calibri" pitchFamily="34" charset="-122"/>
                <a:cs typeface="Calibri" pitchFamily="34" charset="-120"/>
              </a:rPr>
              <a:t>Plus 15,500 lines of tests behind it.</a:t>
            </a:r>
            <a:endParaRPr lang="en-US" sz="1150" dirty="0"/>
          </a:p>
        </p:txBody>
      </p:sp>
      <p:sp>
        <p:nvSpPr>
          <p:cNvPr id="17" name="Shape 15"/>
          <p:cNvSpPr/>
          <p:nvPr/>
        </p:nvSpPr>
        <p:spPr>
          <a:xfrm>
            <a:off x="685800" y="4315968"/>
            <a:ext cx="10820095" cy="10058"/>
          </a:xfrm>
          <a:prstGeom prst="rect">
            <a:avLst/>
          </a:prstGeom>
          <a:solidFill>
            <a:srgbClr val="D7E2DB"/>
          </a:solidFill>
          <a:ln/>
        </p:spPr>
      </p:sp>
      <p:sp>
        <p:nvSpPr>
          <p:cNvPr id="18" name="Text 16"/>
          <p:cNvSpPr txBox="1"/>
          <p:nvPr/>
        </p:nvSpPr>
        <p:spPr>
          <a:xfrm>
            <a:off x="685800" y="4526280"/>
            <a:ext cx="3474720" cy="457200"/>
          </a:xfrm>
          <a:prstGeom prst="rect">
            <a:avLst/>
          </a:prstGeom>
          <a:noFill/>
          <a:ln/>
        </p:spPr>
        <p:txBody>
          <a:bodyPr wrap="square" lIns="0" tIns="0" rIns="0" bIns="0" rtlCol="0" anchor="t"/>
          <a:lstStyle/>
          <a:p>
            <a:pPr indent="0" marL="0">
              <a:lnSpc>
                <a:spcPct val="110000"/>
              </a:lnSpc>
              <a:buNone/>
            </a:pPr>
            <a:r>
              <a:rPr lang="en-US" sz="1150" b="1" dirty="0">
                <a:solidFill>
                  <a:srgbClr val="0B1410"/>
                </a:solidFill>
                <a:latin typeface="Calibri" pitchFamily="34" charset="0"/>
                <a:ea typeface="Calibri" pitchFamily="34" charset="-122"/>
                <a:cs typeface="Calibri" pitchFamily="34" charset="-120"/>
              </a:rPr>
              <a:t>The app  </a:t>
            </a:r>
            <a:pPr indent="0" marL="0">
              <a:lnSpc>
                <a:spcPct val="110000"/>
              </a:lnSpc>
              <a:buNone/>
            </a:pPr>
            <a:r>
              <a:rPr lang="en-US" sz="1150" dirty="0">
                <a:solidFill>
                  <a:srgbClr val="55655D"/>
                </a:solidFill>
                <a:latin typeface="Calibri" pitchFamily="34" charset="0"/>
                <a:ea typeface="Calibri" pitchFamily="34" charset="-122"/>
                <a:cs typeface="Calibri" pitchFamily="34" charset="-120"/>
              </a:rPr>
              <a:t>Flutter, one codebase</a:t>
            </a:r>
            <a:endParaRPr lang="en-US" sz="1150" dirty="0"/>
          </a:p>
        </p:txBody>
      </p:sp>
      <p:sp>
        <p:nvSpPr>
          <p:cNvPr id="19" name="Text 17"/>
          <p:cNvSpPr txBox="1"/>
          <p:nvPr/>
        </p:nvSpPr>
        <p:spPr>
          <a:xfrm>
            <a:off x="4297680" y="4526280"/>
            <a:ext cx="3474720" cy="457200"/>
          </a:xfrm>
          <a:prstGeom prst="rect">
            <a:avLst/>
          </a:prstGeom>
          <a:noFill/>
          <a:ln/>
        </p:spPr>
        <p:txBody>
          <a:bodyPr wrap="square" lIns="0" tIns="0" rIns="0" bIns="0" rtlCol="0" anchor="t"/>
          <a:lstStyle/>
          <a:p>
            <a:pPr indent="0" marL="0">
              <a:lnSpc>
                <a:spcPct val="110000"/>
              </a:lnSpc>
              <a:buNone/>
            </a:pPr>
            <a:r>
              <a:rPr lang="en-US" sz="1150" b="1" dirty="0">
                <a:solidFill>
                  <a:srgbClr val="0B1410"/>
                </a:solidFill>
                <a:latin typeface="Calibri" pitchFamily="34" charset="0"/>
                <a:ea typeface="Calibri" pitchFamily="34" charset="-122"/>
                <a:cs typeface="Calibri" pitchFamily="34" charset="-120"/>
              </a:rPr>
              <a:t>A trusted service  </a:t>
            </a:r>
            <a:pPr indent="0" marL="0">
              <a:lnSpc>
                <a:spcPct val="110000"/>
              </a:lnSpc>
              <a:buNone/>
            </a:pPr>
            <a:r>
              <a:rPr lang="en-US" sz="1150" dirty="0">
                <a:solidFill>
                  <a:srgbClr val="55655D"/>
                </a:solidFill>
                <a:latin typeface="Calibri" pitchFamily="34" charset="0"/>
                <a:ea typeface="Calibri" pitchFamily="34" charset="-122"/>
                <a:cs typeface="Calibri" pitchFamily="34" charset="-120"/>
              </a:rPr>
              <a:t>the only thing that can move a point</a:t>
            </a:r>
            <a:endParaRPr lang="en-US" sz="1150" dirty="0"/>
          </a:p>
        </p:txBody>
      </p:sp>
      <p:sp>
        <p:nvSpPr>
          <p:cNvPr id="20" name="Text 18"/>
          <p:cNvSpPr txBox="1"/>
          <p:nvPr/>
        </p:nvSpPr>
        <p:spPr>
          <a:xfrm>
            <a:off x="7909560" y="4526280"/>
            <a:ext cx="3474720" cy="457200"/>
          </a:xfrm>
          <a:prstGeom prst="rect">
            <a:avLst/>
          </a:prstGeom>
          <a:noFill/>
          <a:ln/>
        </p:spPr>
        <p:txBody>
          <a:bodyPr wrap="square" lIns="0" tIns="0" rIns="0" bIns="0" rtlCol="0" anchor="t"/>
          <a:lstStyle/>
          <a:p>
            <a:pPr indent="0" marL="0">
              <a:lnSpc>
                <a:spcPct val="110000"/>
              </a:lnSpc>
              <a:buNone/>
            </a:pPr>
            <a:r>
              <a:rPr lang="en-US" sz="1150" b="1" dirty="0">
                <a:solidFill>
                  <a:srgbClr val="0B1410"/>
                </a:solidFill>
                <a:latin typeface="Calibri" pitchFamily="34" charset="0"/>
                <a:ea typeface="Calibri" pitchFamily="34" charset="-122"/>
                <a:cs typeface="Calibri" pitchFamily="34" charset="-120"/>
              </a:rPr>
              <a:t>Automated photo screening  </a:t>
            </a:r>
            <a:pPr indent="0" marL="0">
              <a:lnSpc>
                <a:spcPct val="110000"/>
              </a:lnSpc>
              <a:buNone/>
            </a:pPr>
            <a:r>
              <a:rPr lang="en-US" sz="1150" dirty="0">
                <a:solidFill>
                  <a:srgbClr val="55655D"/>
                </a:solidFill>
                <a:latin typeface="Calibri" pitchFamily="34" charset="0"/>
                <a:ea typeface="Calibri" pitchFamily="34" charset="-122"/>
                <a:cs typeface="Calibri" pitchFamily="34" charset="-120"/>
              </a:rPr>
              <a:t>with a human fallback</a:t>
            </a:r>
            <a:endParaRPr lang="en-US" sz="1150" dirty="0"/>
          </a:p>
        </p:txBody>
      </p:sp>
      <p:sp>
        <p:nvSpPr>
          <p:cNvPr id="21" name="Text 19"/>
          <p:cNvSpPr txBox="1"/>
          <p:nvPr/>
        </p:nvSpPr>
        <p:spPr>
          <a:xfrm>
            <a:off x="685800" y="5093208"/>
            <a:ext cx="3474720" cy="457200"/>
          </a:xfrm>
          <a:prstGeom prst="rect">
            <a:avLst/>
          </a:prstGeom>
          <a:noFill/>
          <a:ln/>
        </p:spPr>
        <p:txBody>
          <a:bodyPr wrap="square" lIns="0" tIns="0" rIns="0" bIns="0" rtlCol="0" anchor="t"/>
          <a:lstStyle/>
          <a:p>
            <a:pPr indent="0" marL="0">
              <a:lnSpc>
                <a:spcPct val="110000"/>
              </a:lnSpc>
              <a:buNone/>
            </a:pPr>
            <a:r>
              <a:rPr lang="en-US" sz="1150" b="1" dirty="0">
                <a:solidFill>
                  <a:srgbClr val="0B1410"/>
                </a:solidFill>
                <a:latin typeface="Calibri" pitchFamily="34" charset="0"/>
                <a:ea typeface="Calibri" pitchFamily="34" charset="-122"/>
                <a:cs typeface="Calibri" pitchFamily="34" charset="-120"/>
              </a:rPr>
              <a:t>Push notifications  </a:t>
            </a:r>
            <a:pPr indent="0" marL="0">
              <a:lnSpc>
                <a:spcPct val="110000"/>
              </a:lnSpc>
              <a:buNone/>
            </a:pPr>
            <a:r>
              <a:rPr lang="en-US" sz="1150" dirty="0">
                <a:solidFill>
                  <a:srgbClr val="55655D"/>
                </a:solidFill>
                <a:latin typeface="Calibri" pitchFamily="34" charset="0"/>
                <a:ea typeface="Calibri" pitchFamily="34" charset="-122"/>
                <a:cs typeface="Calibri" pitchFamily="34" charset="-120"/>
              </a:rPr>
              <a:t>on every decision</a:t>
            </a:r>
            <a:endParaRPr lang="en-US" sz="1150" dirty="0"/>
          </a:p>
        </p:txBody>
      </p:sp>
      <p:sp>
        <p:nvSpPr>
          <p:cNvPr id="22" name="Text 20"/>
          <p:cNvSpPr txBox="1"/>
          <p:nvPr/>
        </p:nvSpPr>
        <p:spPr>
          <a:xfrm>
            <a:off x="4297680" y="5093208"/>
            <a:ext cx="3474720" cy="457200"/>
          </a:xfrm>
          <a:prstGeom prst="rect">
            <a:avLst/>
          </a:prstGeom>
          <a:noFill/>
          <a:ln/>
        </p:spPr>
        <p:txBody>
          <a:bodyPr wrap="square" lIns="0" tIns="0" rIns="0" bIns="0" rtlCol="0" anchor="t"/>
          <a:lstStyle/>
          <a:p>
            <a:pPr indent="0" marL="0">
              <a:lnSpc>
                <a:spcPct val="110000"/>
              </a:lnSpc>
              <a:buNone/>
            </a:pPr>
            <a:r>
              <a:rPr lang="en-US" sz="1150" b="1" dirty="0">
                <a:solidFill>
                  <a:srgbClr val="0B1410"/>
                </a:solidFill>
                <a:latin typeface="Calibri" pitchFamily="34" charset="0"/>
                <a:ea typeface="Calibri" pitchFamily="34" charset="-122"/>
                <a:cs typeface="Calibri" pitchFamily="34" charset="-120"/>
              </a:rPr>
              <a:t>Printable bin labels  </a:t>
            </a:r>
            <a:pPr indent="0" marL="0">
              <a:lnSpc>
                <a:spcPct val="110000"/>
              </a:lnSpc>
              <a:buNone/>
            </a:pPr>
            <a:r>
              <a:rPr lang="en-US" sz="1150" dirty="0">
                <a:solidFill>
                  <a:srgbClr val="55655D"/>
                </a:solidFill>
                <a:latin typeface="Calibri" pitchFamily="34" charset="0"/>
                <a:ea typeface="Calibri" pitchFamily="34" charset="-122"/>
                <a:cs typeface="Calibri" pitchFamily="34" charset="-120"/>
              </a:rPr>
              <a:t>high error-correction QR</a:t>
            </a:r>
            <a:endParaRPr lang="en-US" sz="1150" dirty="0"/>
          </a:p>
        </p:txBody>
      </p:sp>
      <p:sp>
        <p:nvSpPr>
          <p:cNvPr id="23" name="Text 21"/>
          <p:cNvSpPr txBox="1"/>
          <p:nvPr/>
        </p:nvSpPr>
        <p:spPr>
          <a:xfrm>
            <a:off x="7909560" y="5093208"/>
            <a:ext cx="3474720" cy="457200"/>
          </a:xfrm>
          <a:prstGeom prst="rect">
            <a:avLst/>
          </a:prstGeom>
          <a:noFill/>
          <a:ln/>
        </p:spPr>
        <p:txBody>
          <a:bodyPr wrap="square" lIns="0" tIns="0" rIns="0" bIns="0" rtlCol="0" anchor="t"/>
          <a:lstStyle/>
          <a:p>
            <a:pPr indent="0" marL="0">
              <a:lnSpc>
                <a:spcPct val="110000"/>
              </a:lnSpc>
              <a:buNone/>
            </a:pPr>
            <a:r>
              <a:rPr lang="en-US" sz="1150" b="1" dirty="0">
                <a:solidFill>
                  <a:srgbClr val="0B1410"/>
                </a:solidFill>
                <a:latin typeface="Calibri" pitchFamily="34" charset="0"/>
                <a:ea typeface="Calibri" pitchFamily="34" charset="-122"/>
                <a:cs typeface="Calibri" pitchFamily="34" charset="-120"/>
              </a:rPr>
              <a:t>A ledger  </a:t>
            </a:r>
            <a:pPr indent="0" marL="0">
              <a:lnSpc>
                <a:spcPct val="110000"/>
              </a:lnSpc>
              <a:buNone/>
            </a:pPr>
            <a:r>
              <a:rPr lang="en-US" sz="1150" dirty="0">
                <a:solidFill>
                  <a:srgbClr val="55655D"/>
                </a:solidFill>
                <a:latin typeface="Calibri" pitchFamily="34" charset="0"/>
                <a:ea typeface="Calibri" pitchFamily="34" charset="-122"/>
                <a:cs typeface="Calibri" pitchFamily="34" charset="-120"/>
              </a:rPr>
              <a:t>every balance reconstructable</a:t>
            </a:r>
            <a:endParaRPr lang="en-US" sz="1150" dirty="0"/>
          </a:p>
        </p:txBody>
      </p:sp>
      <p:sp>
        <p:nvSpPr>
          <p:cNvPr id="24" name="Text 22"/>
          <p:cNvSpPr txBox="1"/>
          <p:nvPr/>
        </p:nvSpPr>
        <p:spPr>
          <a:xfrm>
            <a:off x="685800" y="5806440"/>
            <a:ext cx="9601200" cy="868680"/>
          </a:xfrm>
          <a:prstGeom prst="rect">
            <a:avLst/>
          </a:prstGeom>
          <a:noFill/>
          <a:ln/>
        </p:spPr>
        <p:txBody>
          <a:bodyPr wrap="square" lIns="0" tIns="0" rIns="0" bIns="0" rtlCol="0" anchor="t"/>
          <a:lstStyle/>
          <a:p>
            <a:pPr indent="0" marL="0">
              <a:lnSpc>
                <a:spcPct val="114000"/>
              </a:lnSpc>
              <a:buNone/>
            </a:pPr>
            <a:r>
              <a:rPr lang="en-US" sz="1700" dirty="0">
                <a:solidFill>
                  <a:srgbClr val="0B1410"/>
                </a:solidFill>
                <a:latin typeface="Cambria" pitchFamily="34" charset="0"/>
                <a:ea typeface="Cambria" pitchFamily="34" charset="-122"/>
                <a:cs typeface="Cambria" pitchFamily="34" charset="-120"/>
              </a:rPr>
              <a:t>A working prototype — and the full earn-and-spend cycle runs end to end, in one continuous demo.</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WHAT'S IN IT FOR YOU</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2900" b="1" dirty="0">
                <a:solidFill>
                  <a:srgbClr val="0B1410"/>
                </a:solidFill>
                <a:latin typeface="Cambria" pitchFamily="34" charset="0"/>
                <a:ea typeface="Cambria" pitchFamily="34" charset="-122"/>
                <a:cs typeface="Cambria" pitchFamily="34" charset="-120"/>
              </a:rPr>
              <a:t>Four different people get four different things out of the same loop.</a:t>
            </a:r>
            <a:endParaRPr lang="en-US" sz="2900" dirty="0"/>
          </a:p>
        </p:txBody>
      </p:sp>
      <p:sp>
        <p:nvSpPr>
          <p:cNvPr id="4" name="Shape 2"/>
          <p:cNvSpPr/>
          <p:nvPr/>
        </p:nvSpPr>
        <p:spPr>
          <a:xfrm>
            <a:off x="685800" y="2148840"/>
            <a:ext cx="5312664" cy="1691640"/>
          </a:xfrm>
          <a:prstGeom prst="roundRect">
            <a:avLst>
              <a:gd name="adj" fmla="val 3243"/>
            </a:avLst>
          </a:prstGeom>
          <a:solidFill>
            <a:srgbClr val="FFFFFF"/>
          </a:solidFill>
          <a:ln w="9525">
            <a:solidFill>
              <a:srgbClr val="D7E2DB"/>
            </a:solidFill>
            <a:prstDash val="solid"/>
          </a:ln>
        </p:spPr>
      </p:sp>
      <p:sp>
        <p:nvSpPr>
          <p:cNvPr id="5" name="Text 3"/>
          <p:cNvSpPr txBox="1"/>
          <p:nvPr/>
        </p:nvSpPr>
        <p:spPr>
          <a:xfrm>
            <a:off x="960120" y="2368296"/>
            <a:ext cx="4764024"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CITIES &amp; BIN OPERATORS</a:t>
            </a:r>
            <a:endParaRPr lang="en-US" sz="1050" dirty="0"/>
          </a:p>
        </p:txBody>
      </p:sp>
      <p:sp>
        <p:nvSpPr>
          <p:cNvPr id="6" name="Text 4"/>
          <p:cNvSpPr txBox="1"/>
          <p:nvPr/>
        </p:nvSpPr>
        <p:spPr>
          <a:xfrm>
            <a:off x="960120" y="2715768"/>
            <a:ext cx="4764024" cy="1005840"/>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Attributable, timestamped, location-verified disposal data. Which bins get used, when, and by how many distinct people — which is not measurable today at any price.</a:t>
            </a:r>
            <a:endParaRPr lang="en-US" sz="1200" dirty="0"/>
          </a:p>
        </p:txBody>
      </p:sp>
      <p:sp>
        <p:nvSpPr>
          <p:cNvPr id="7" name="Shape 5"/>
          <p:cNvSpPr/>
          <p:nvPr/>
        </p:nvSpPr>
        <p:spPr>
          <a:xfrm>
            <a:off x="6190488" y="2148840"/>
            <a:ext cx="5312664" cy="1691640"/>
          </a:xfrm>
          <a:prstGeom prst="roundRect">
            <a:avLst>
              <a:gd name="adj" fmla="val 3243"/>
            </a:avLst>
          </a:prstGeom>
          <a:solidFill>
            <a:srgbClr val="FFFFFF"/>
          </a:solidFill>
          <a:ln w="9525">
            <a:solidFill>
              <a:srgbClr val="D7E2DB"/>
            </a:solidFill>
            <a:prstDash val="solid"/>
          </a:ln>
        </p:spPr>
      </p:sp>
      <p:sp>
        <p:nvSpPr>
          <p:cNvPr id="8" name="Text 6"/>
          <p:cNvSpPr txBox="1"/>
          <p:nvPr/>
        </p:nvSpPr>
        <p:spPr>
          <a:xfrm>
            <a:off x="6464808" y="2368296"/>
            <a:ext cx="4764024"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GREEN ENTREPRENEURS</a:t>
            </a:r>
            <a:endParaRPr lang="en-US" sz="1050" dirty="0"/>
          </a:p>
        </p:txBody>
      </p:sp>
      <p:sp>
        <p:nvSpPr>
          <p:cNvPr id="9" name="Text 7"/>
          <p:cNvSpPr txBox="1"/>
          <p:nvPr/>
        </p:nvSpPr>
        <p:spPr>
          <a:xfrm>
            <a:off x="6464808" y="2715768"/>
            <a:ext cx="4764024" cy="1005840"/>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A market where their materials are the premise, and a reputation that travels with them instead of living on a page they could lose.</a:t>
            </a:r>
            <a:endParaRPr lang="en-US" sz="1200" dirty="0"/>
          </a:p>
        </p:txBody>
      </p:sp>
      <p:sp>
        <p:nvSpPr>
          <p:cNvPr id="10" name="Shape 8"/>
          <p:cNvSpPr/>
          <p:nvPr/>
        </p:nvSpPr>
        <p:spPr>
          <a:xfrm>
            <a:off x="685800" y="4059936"/>
            <a:ext cx="5312664" cy="1691640"/>
          </a:xfrm>
          <a:prstGeom prst="roundRect">
            <a:avLst>
              <a:gd name="adj" fmla="val 3243"/>
            </a:avLst>
          </a:prstGeom>
          <a:solidFill>
            <a:srgbClr val="FFFFFF"/>
          </a:solidFill>
          <a:ln w="9525">
            <a:solidFill>
              <a:srgbClr val="D7E2DB"/>
            </a:solidFill>
            <a:prstDash val="solid"/>
          </a:ln>
        </p:spPr>
      </p:sp>
      <p:sp>
        <p:nvSpPr>
          <p:cNvPr id="11" name="Text 9"/>
          <p:cNvSpPr txBox="1"/>
          <p:nvPr/>
        </p:nvSpPr>
        <p:spPr>
          <a:xfrm>
            <a:off x="960120" y="4279392"/>
            <a:ext cx="4764024"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SPONSORS</a:t>
            </a:r>
            <a:endParaRPr lang="en-US" sz="1050" dirty="0"/>
          </a:p>
        </p:txBody>
      </p:sp>
      <p:sp>
        <p:nvSpPr>
          <p:cNvPr id="12" name="Text 10"/>
          <p:cNvSpPr txBox="1"/>
          <p:nvPr/>
        </p:nvSpPr>
        <p:spPr>
          <a:xfrm>
            <a:off x="960120" y="4626864"/>
            <a:ext cx="4764024" cy="1005840"/>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Rewards you fund are only paid against evidence that survived five checks, and every point of it is reconstructable from a ledger. You can see what your money bought.</a:t>
            </a:r>
            <a:endParaRPr lang="en-US" sz="1200" dirty="0"/>
          </a:p>
        </p:txBody>
      </p:sp>
      <p:sp>
        <p:nvSpPr>
          <p:cNvPr id="13" name="Shape 11"/>
          <p:cNvSpPr/>
          <p:nvPr/>
        </p:nvSpPr>
        <p:spPr>
          <a:xfrm>
            <a:off x="6190488" y="4059936"/>
            <a:ext cx="5312664" cy="1691640"/>
          </a:xfrm>
          <a:prstGeom prst="roundRect">
            <a:avLst>
              <a:gd name="adj" fmla="val 3243"/>
            </a:avLst>
          </a:prstGeom>
          <a:solidFill>
            <a:srgbClr val="FFFFFF"/>
          </a:solidFill>
          <a:ln w="9525">
            <a:solidFill>
              <a:srgbClr val="D7E2DB"/>
            </a:solidFill>
            <a:prstDash val="solid"/>
          </a:ln>
        </p:spPr>
      </p:sp>
      <p:sp>
        <p:nvSpPr>
          <p:cNvPr id="14" name="Text 12"/>
          <p:cNvSpPr txBox="1"/>
          <p:nvPr/>
        </p:nvSpPr>
        <p:spPr>
          <a:xfrm>
            <a:off x="6464808" y="4279392"/>
            <a:ext cx="4764024"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THE NEIGHBOURHOOD</a:t>
            </a:r>
            <a:endParaRPr lang="en-US" sz="1050" dirty="0"/>
          </a:p>
        </p:txBody>
      </p:sp>
      <p:sp>
        <p:nvSpPr>
          <p:cNvPr id="15" name="Text 13"/>
          <p:cNvSpPr txBox="1"/>
          <p:nvPr/>
        </p:nvSpPr>
        <p:spPr>
          <a:xfrm>
            <a:off x="6464808" y="4626864"/>
            <a:ext cx="4764024" cy="1005840"/>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Money circulating between residents and small local producers, instead of leaving for mass-produced imports.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8"/>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006C4C"/>
                </a:solidFill>
                <a:latin typeface="Calibri" pitchFamily="34" charset="0"/>
                <a:ea typeface="Calibri" pitchFamily="34" charset="-122"/>
                <a:cs typeface="Calibri" pitchFamily="34" charset="-120"/>
              </a:rPr>
              <a:t>WHERE IT GOES</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3000" b="1" dirty="0">
                <a:solidFill>
                  <a:srgbClr val="0B1410"/>
                </a:solidFill>
                <a:latin typeface="Cambria" pitchFamily="34" charset="0"/>
                <a:ea typeface="Cambria" pitchFamily="34" charset="-122"/>
                <a:cs typeface="Cambria" pitchFamily="34" charset="-120"/>
              </a:rPr>
              <a:t>The next version of this is a pilot, not a feature.</a:t>
            </a:r>
            <a:endParaRPr lang="en-US" sz="3000" dirty="0"/>
          </a:p>
        </p:txBody>
      </p:sp>
      <p:sp>
        <p:nvSpPr>
          <p:cNvPr id="4" name="Shape 2"/>
          <p:cNvSpPr/>
          <p:nvPr/>
        </p:nvSpPr>
        <p:spPr>
          <a:xfrm>
            <a:off x="685800" y="2103120"/>
            <a:ext cx="10820095" cy="10058"/>
          </a:xfrm>
          <a:prstGeom prst="rect">
            <a:avLst/>
          </a:prstGeom>
          <a:solidFill>
            <a:srgbClr val="D7E2DB"/>
          </a:solidFill>
          <a:ln/>
        </p:spPr>
      </p:sp>
      <p:sp>
        <p:nvSpPr>
          <p:cNvPr id="5" name="Text 3"/>
          <p:cNvSpPr txBox="1"/>
          <p:nvPr/>
        </p:nvSpPr>
        <p:spPr>
          <a:xfrm>
            <a:off x="685800" y="2286000"/>
            <a:ext cx="3483864"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NOW</a:t>
            </a:r>
            <a:endParaRPr lang="en-US" sz="1050" dirty="0"/>
          </a:p>
        </p:txBody>
      </p:sp>
      <p:sp>
        <p:nvSpPr>
          <p:cNvPr id="6" name="Text 4"/>
          <p:cNvSpPr txBox="1"/>
          <p:nvPr/>
        </p:nvSpPr>
        <p:spPr>
          <a:xfrm>
            <a:off x="685800" y="2606040"/>
            <a:ext cx="3483864" cy="320040"/>
          </a:xfrm>
          <a:prstGeom prst="rect">
            <a:avLst/>
          </a:prstGeom>
          <a:noFill/>
          <a:ln/>
        </p:spPr>
        <p:txBody>
          <a:bodyPr wrap="square" lIns="0" tIns="0" rIns="0" bIns="0" rtlCol="0" anchor="t"/>
          <a:lstStyle/>
          <a:p>
            <a:pPr indent="0" marL="0">
              <a:buNone/>
            </a:pPr>
            <a:r>
              <a:rPr lang="en-US" sz="1600" b="1" dirty="0">
                <a:solidFill>
                  <a:srgbClr val="0B1410"/>
                </a:solidFill>
                <a:latin typeface="Cambria" pitchFamily="34" charset="0"/>
                <a:ea typeface="Cambria" pitchFamily="34" charset="-122"/>
                <a:cs typeface="Cambria" pitchFamily="34" charset="-120"/>
              </a:rPr>
              <a:t>One neighbourhood</a:t>
            </a:r>
            <a:endParaRPr lang="en-US" sz="1600" dirty="0"/>
          </a:p>
        </p:txBody>
      </p:sp>
      <p:sp>
        <p:nvSpPr>
          <p:cNvPr id="7" name="Text 5"/>
          <p:cNvSpPr txBox="1"/>
          <p:nvPr/>
        </p:nvSpPr>
        <p:spPr>
          <a:xfrm>
            <a:off x="685800" y="2999232"/>
            <a:ext cx="3483864" cy="1371600"/>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Register a real set of bins, print and mount the labels, and run the loop with real users and a real reward pool.</a:t>
            </a:r>
            <a:endParaRPr lang="en-US" sz="1200" dirty="0"/>
          </a:p>
        </p:txBody>
      </p:sp>
      <p:sp>
        <p:nvSpPr>
          <p:cNvPr id="8" name="Text 6"/>
          <p:cNvSpPr txBox="1"/>
          <p:nvPr/>
        </p:nvSpPr>
        <p:spPr>
          <a:xfrm>
            <a:off x="4352544" y="2286000"/>
            <a:ext cx="3483864"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NEXT</a:t>
            </a:r>
            <a:endParaRPr lang="en-US" sz="1050" dirty="0"/>
          </a:p>
        </p:txBody>
      </p:sp>
      <p:sp>
        <p:nvSpPr>
          <p:cNvPr id="9" name="Text 7"/>
          <p:cNvSpPr txBox="1"/>
          <p:nvPr/>
        </p:nvSpPr>
        <p:spPr>
          <a:xfrm>
            <a:off x="4352544" y="2606040"/>
            <a:ext cx="3483864" cy="320040"/>
          </a:xfrm>
          <a:prstGeom prst="rect">
            <a:avLst/>
          </a:prstGeom>
          <a:noFill/>
          <a:ln/>
        </p:spPr>
        <p:txBody>
          <a:bodyPr wrap="square" lIns="0" tIns="0" rIns="0" bIns="0" rtlCol="0" anchor="t"/>
          <a:lstStyle/>
          <a:p>
            <a:pPr indent="0" marL="0">
              <a:buNone/>
            </a:pPr>
            <a:r>
              <a:rPr lang="en-US" sz="1600" b="1" dirty="0">
                <a:solidFill>
                  <a:srgbClr val="0B1410"/>
                </a:solidFill>
                <a:latin typeface="Cambria" pitchFamily="34" charset="0"/>
                <a:ea typeface="Cambria" pitchFamily="34" charset="-122"/>
                <a:cs typeface="Cambria" pitchFamily="34" charset="-120"/>
              </a:rPr>
              <a:t>Works with no signal</a:t>
            </a:r>
            <a:endParaRPr lang="en-US" sz="1600" dirty="0"/>
          </a:p>
        </p:txBody>
      </p:sp>
      <p:sp>
        <p:nvSpPr>
          <p:cNvPr id="10" name="Text 8"/>
          <p:cNvSpPr txBox="1"/>
          <p:nvPr/>
        </p:nvSpPr>
        <p:spPr>
          <a:xfrm>
            <a:off x="4352544" y="2999232"/>
            <a:ext cx="3483864" cy="1371600"/>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A submission composed at a roadside bin should queue and send itself later. Plus a Bangla interface — the app is built for it, it is not translated yet.</a:t>
            </a:r>
            <a:endParaRPr lang="en-US" sz="1200" dirty="0"/>
          </a:p>
        </p:txBody>
      </p:sp>
      <p:sp>
        <p:nvSpPr>
          <p:cNvPr id="11" name="Text 9"/>
          <p:cNvSpPr txBox="1"/>
          <p:nvPr/>
        </p:nvSpPr>
        <p:spPr>
          <a:xfrm>
            <a:off x="8019288" y="2286000"/>
            <a:ext cx="3483864"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006C4C"/>
                </a:solidFill>
                <a:latin typeface="Calibri" pitchFamily="34" charset="0"/>
                <a:ea typeface="Calibri" pitchFamily="34" charset="-122"/>
                <a:cs typeface="Calibri" pitchFamily="34" charset="-120"/>
              </a:rPr>
              <a:t>THEN</a:t>
            </a:r>
            <a:endParaRPr lang="en-US" sz="1050" dirty="0"/>
          </a:p>
        </p:txBody>
      </p:sp>
      <p:sp>
        <p:nvSpPr>
          <p:cNvPr id="12" name="Text 10"/>
          <p:cNvSpPr txBox="1"/>
          <p:nvPr/>
        </p:nvSpPr>
        <p:spPr>
          <a:xfrm>
            <a:off x="8019288" y="2606040"/>
            <a:ext cx="3483864" cy="320040"/>
          </a:xfrm>
          <a:prstGeom prst="rect">
            <a:avLst/>
          </a:prstGeom>
          <a:noFill/>
          <a:ln/>
        </p:spPr>
        <p:txBody>
          <a:bodyPr wrap="square" lIns="0" tIns="0" rIns="0" bIns="0" rtlCol="0" anchor="t"/>
          <a:lstStyle/>
          <a:p>
            <a:pPr indent="0" marL="0">
              <a:buNone/>
            </a:pPr>
            <a:r>
              <a:rPr lang="en-US" sz="1600" b="1" dirty="0">
                <a:solidFill>
                  <a:srgbClr val="0B1410"/>
                </a:solidFill>
                <a:latin typeface="Cambria" pitchFamily="34" charset="0"/>
                <a:ea typeface="Cambria" pitchFamily="34" charset="-122"/>
                <a:cs typeface="Cambria" pitchFamily="34" charset="-120"/>
              </a:rPr>
              <a:t>Real rails, shared data</a:t>
            </a:r>
            <a:endParaRPr lang="en-US" sz="1600" dirty="0"/>
          </a:p>
        </p:txBody>
      </p:sp>
      <p:sp>
        <p:nvSpPr>
          <p:cNvPr id="13" name="Text 11"/>
          <p:cNvSpPr txBox="1"/>
          <p:nvPr/>
        </p:nvSpPr>
        <p:spPr>
          <a:xfrm>
            <a:off x="8019288" y="2999232"/>
            <a:ext cx="3483864" cy="1371600"/>
          </a:xfrm>
          <a:prstGeom prst="rect">
            <a:avLst/>
          </a:prstGeom>
          <a:noFill/>
          <a:ln/>
        </p:spPr>
        <p:txBody>
          <a:bodyPr wrap="square" lIns="0" tIns="0" rIns="0" bIns="0" rtlCol="0" anchor="t"/>
          <a:lstStyle/>
          <a:p>
            <a:pPr indent="0" marL="0">
              <a:lnSpc>
                <a:spcPct val="116000"/>
              </a:lnSpc>
              <a:buNone/>
            </a:pPr>
            <a:r>
              <a:rPr lang="en-US" sz="1200" dirty="0">
                <a:solidFill>
                  <a:srgbClr val="0B1410"/>
                </a:solidFill>
                <a:latin typeface="Calibri" pitchFamily="34" charset="0"/>
                <a:ea typeface="Calibri" pitchFamily="34" charset="-122"/>
                <a:cs typeface="Calibri" pitchFamily="34" charset="-120"/>
              </a:rPr>
              <a:t>Live payment integration in place of the simulated journeys, and disposal data handed back to the city that owns the bins.</a:t>
            </a:r>
            <a:endParaRPr lang="en-US" sz="1200" dirty="0"/>
          </a:p>
        </p:txBody>
      </p:sp>
      <p:sp>
        <p:nvSpPr>
          <p:cNvPr id="14" name="Shape 12"/>
          <p:cNvSpPr/>
          <p:nvPr/>
        </p:nvSpPr>
        <p:spPr>
          <a:xfrm>
            <a:off x="685800" y="4937760"/>
            <a:ext cx="10820095" cy="1051560"/>
          </a:xfrm>
          <a:prstGeom prst="roundRect">
            <a:avLst>
              <a:gd name="adj" fmla="val 4348"/>
            </a:avLst>
          </a:prstGeom>
          <a:solidFill>
            <a:srgbClr val="E8F0EB"/>
          </a:solidFill>
          <a:ln/>
        </p:spPr>
      </p:sp>
      <p:sp>
        <p:nvSpPr>
          <p:cNvPr id="15" name="Text 13"/>
          <p:cNvSpPr txBox="1"/>
          <p:nvPr/>
        </p:nvSpPr>
        <p:spPr>
          <a:xfrm>
            <a:off x="960120" y="5175504"/>
            <a:ext cx="10271455" cy="603504"/>
          </a:xfrm>
          <a:prstGeom prst="rect">
            <a:avLst/>
          </a:prstGeom>
          <a:noFill/>
          <a:ln/>
        </p:spPr>
        <p:txBody>
          <a:bodyPr wrap="square" lIns="0" tIns="0" rIns="0" bIns="0" rtlCol="0" anchor="t"/>
          <a:lstStyle/>
          <a:p>
            <a:pPr indent="0" marL="0">
              <a:lnSpc>
                <a:spcPct val="114000"/>
              </a:lnSpc>
              <a:buNone/>
            </a:pPr>
            <a:r>
              <a:rPr lang="en-US" sz="1200" b="1" dirty="0">
                <a:solidFill>
                  <a:srgbClr val="006C4C"/>
                </a:solidFill>
                <a:latin typeface="Calibri" pitchFamily="34" charset="0"/>
                <a:ea typeface="Calibri" pitchFamily="34" charset="-122"/>
                <a:cs typeface="Calibri" pitchFamily="34" charset="-120"/>
              </a:rPr>
              <a:t>The honest boundary: </a:t>
            </a:r>
            <a:pPr indent="0" marL="0">
              <a:lnSpc>
                <a:spcPct val="114000"/>
              </a:lnSpc>
              <a:buNone/>
            </a:pPr>
            <a:r>
              <a:rPr lang="en-US" sz="1200" dirty="0">
                <a:solidFill>
                  <a:srgbClr val="0B1410"/>
                </a:solidFill>
                <a:latin typeface="Calibri" pitchFamily="34" charset="0"/>
                <a:ea typeface="Calibri" pitchFamily="34" charset="-122"/>
                <a:cs typeface="Calibri" pitchFamily="34" charset="-120"/>
              </a:rPr>
              <a:t>this does not solve waste management, and we will not tell you it does. It makes one link in the chain — a person’s decision at the moment of disposal — measurable and worth something, and it points the resulting value at local producers instead of out of the community.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410"/>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28600"/>
          </a:xfrm>
          <a:prstGeom prst="rect">
            <a:avLst/>
          </a:prstGeom>
          <a:noFill/>
          <a:ln/>
        </p:spPr>
        <p:txBody>
          <a:bodyPr wrap="square" lIns="0" tIns="0" rIns="0" bIns="0" rtlCol="0" anchor="ctr"/>
          <a:lstStyle/>
          <a:p>
            <a:pPr indent="0" marL="0">
              <a:buNone/>
            </a:pPr>
            <a:r>
              <a:rPr lang="en-US" sz="1050" b="1" spc="200" kern="0" dirty="0">
                <a:solidFill>
                  <a:srgbClr val="E4A11B"/>
                </a:solidFill>
                <a:latin typeface="Calibri" pitchFamily="34" charset="0"/>
                <a:ea typeface="Calibri" pitchFamily="34" charset="-122"/>
                <a:cs typeface="Calibri" pitchFamily="34" charset="-120"/>
              </a:rPr>
              <a:t>THE ASK</a:t>
            </a:r>
            <a:endParaRPr lang="en-US" sz="1050" dirty="0"/>
          </a:p>
        </p:txBody>
      </p:sp>
      <p:sp>
        <p:nvSpPr>
          <p:cNvPr id="3" name="Text 1"/>
          <p:cNvSpPr txBox="1"/>
          <p:nvPr/>
        </p:nvSpPr>
        <p:spPr>
          <a:xfrm>
            <a:off x="685800" y="777240"/>
            <a:ext cx="10820095" cy="1051560"/>
          </a:xfrm>
          <a:prstGeom prst="rect">
            <a:avLst/>
          </a:prstGeom>
          <a:noFill/>
          <a:ln/>
        </p:spPr>
        <p:txBody>
          <a:bodyPr wrap="square" lIns="0" tIns="0" rIns="0" bIns="0" rtlCol="0" anchor="t"/>
          <a:lstStyle/>
          <a:p>
            <a:pPr indent="0" marL="0">
              <a:lnSpc>
                <a:spcPct val="102000"/>
              </a:lnSpc>
              <a:buNone/>
            </a:pPr>
            <a:r>
              <a:rPr lang="en-US" sz="3200" b="1" dirty="0">
                <a:solidFill>
                  <a:srgbClr val="F7FAF8"/>
                </a:solidFill>
                <a:latin typeface="Cambria" pitchFamily="34" charset="0"/>
                <a:ea typeface="Cambria" pitchFamily="34" charset="-122"/>
                <a:cs typeface="Cambria" pitchFamily="34" charset="-120"/>
              </a:rPr>
              <a:t>Three things, and the loop starts turning.</a:t>
            </a:r>
            <a:endParaRPr lang="en-US" sz="3200" dirty="0"/>
          </a:p>
        </p:txBody>
      </p:sp>
      <p:sp>
        <p:nvSpPr>
          <p:cNvPr id="4" name="Shape 2"/>
          <p:cNvSpPr/>
          <p:nvPr/>
        </p:nvSpPr>
        <p:spPr>
          <a:xfrm>
            <a:off x="685800" y="2103120"/>
            <a:ext cx="6309360" cy="10058"/>
          </a:xfrm>
          <a:prstGeom prst="rect">
            <a:avLst/>
          </a:prstGeom>
          <a:solidFill>
            <a:srgbClr val="2C3B34"/>
          </a:solidFill>
          <a:ln/>
        </p:spPr>
      </p:sp>
      <p:sp>
        <p:nvSpPr>
          <p:cNvPr id="5" name="Text 3"/>
          <p:cNvSpPr txBox="1"/>
          <p:nvPr/>
        </p:nvSpPr>
        <p:spPr>
          <a:xfrm>
            <a:off x="685800" y="2331720"/>
            <a:ext cx="173736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BINS</a:t>
            </a:r>
            <a:endParaRPr lang="en-US" sz="1050" dirty="0"/>
          </a:p>
        </p:txBody>
      </p:sp>
      <p:sp>
        <p:nvSpPr>
          <p:cNvPr id="6" name="Text 4"/>
          <p:cNvSpPr txBox="1"/>
          <p:nvPr/>
        </p:nvSpPr>
        <p:spPr>
          <a:xfrm>
            <a:off x="2514600" y="2313432"/>
            <a:ext cx="4480560" cy="731520"/>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One neighbourhood, one operator willing to let us label their bins and record where they are.</a:t>
            </a:r>
            <a:endParaRPr lang="en-US" sz="1200" dirty="0"/>
          </a:p>
        </p:txBody>
      </p:sp>
      <p:sp>
        <p:nvSpPr>
          <p:cNvPr id="7" name="Shape 5"/>
          <p:cNvSpPr/>
          <p:nvPr/>
        </p:nvSpPr>
        <p:spPr>
          <a:xfrm>
            <a:off x="685800" y="3081528"/>
            <a:ext cx="6309360" cy="10058"/>
          </a:xfrm>
          <a:prstGeom prst="rect">
            <a:avLst/>
          </a:prstGeom>
          <a:solidFill>
            <a:srgbClr val="2C3B34"/>
          </a:solidFill>
          <a:ln/>
        </p:spPr>
      </p:sp>
      <p:sp>
        <p:nvSpPr>
          <p:cNvPr id="8" name="Text 6"/>
          <p:cNvSpPr txBox="1"/>
          <p:nvPr/>
        </p:nvSpPr>
        <p:spPr>
          <a:xfrm>
            <a:off x="685800" y="3264408"/>
            <a:ext cx="173736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ENTREPRENEURS</a:t>
            </a:r>
            <a:endParaRPr lang="en-US" sz="1050" dirty="0"/>
          </a:p>
        </p:txBody>
      </p:sp>
      <p:sp>
        <p:nvSpPr>
          <p:cNvPr id="9" name="Text 7"/>
          <p:cNvSpPr txBox="1"/>
          <p:nvPr/>
        </p:nvSpPr>
        <p:spPr>
          <a:xfrm>
            <a:off x="2514600" y="3246120"/>
            <a:ext cx="4480560" cy="731520"/>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A first cohort of makers to open the marketplace with, so there is something worth spending on.</a:t>
            </a:r>
            <a:endParaRPr lang="en-US" sz="1200" dirty="0"/>
          </a:p>
        </p:txBody>
      </p:sp>
      <p:sp>
        <p:nvSpPr>
          <p:cNvPr id="10" name="Shape 8"/>
          <p:cNvSpPr/>
          <p:nvPr/>
        </p:nvSpPr>
        <p:spPr>
          <a:xfrm>
            <a:off x="685800" y="4014216"/>
            <a:ext cx="6309360" cy="10058"/>
          </a:xfrm>
          <a:prstGeom prst="rect">
            <a:avLst/>
          </a:prstGeom>
          <a:solidFill>
            <a:srgbClr val="2C3B34"/>
          </a:solidFill>
          <a:ln/>
        </p:spPr>
      </p:sp>
      <p:sp>
        <p:nvSpPr>
          <p:cNvPr id="11" name="Text 9"/>
          <p:cNvSpPr txBox="1"/>
          <p:nvPr/>
        </p:nvSpPr>
        <p:spPr>
          <a:xfrm>
            <a:off x="685800" y="4197096"/>
            <a:ext cx="1737360" cy="457200"/>
          </a:xfrm>
          <a:prstGeom prst="rect">
            <a:avLst/>
          </a:prstGeom>
          <a:noFill/>
          <a:ln/>
        </p:spPr>
        <p:txBody>
          <a:bodyPr wrap="square" lIns="0" tIns="0" rIns="0" bIns="0" rtlCol="0" anchor="t"/>
          <a:lstStyle/>
          <a:p>
            <a:pPr indent="0" marL="0">
              <a:lnSpc>
                <a:spcPct val="110000"/>
              </a:lnSpc>
              <a:buNone/>
            </a:pPr>
            <a:r>
              <a:rPr lang="en-US" sz="1050" b="1" spc="160" kern="0" dirty="0">
                <a:solidFill>
                  <a:srgbClr val="1FA97A"/>
                </a:solidFill>
                <a:latin typeface="Calibri" pitchFamily="34" charset="0"/>
                <a:ea typeface="Calibri" pitchFamily="34" charset="-122"/>
                <a:cs typeface="Calibri" pitchFamily="34" charset="-120"/>
              </a:rPr>
              <a:t>SPONSORSHIP</a:t>
            </a:r>
            <a:endParaRPr lang="en-US" sz="1050" dirty="0"/>
          </a:p>
        </p:txBody>
      </p:sp>
      <p:sp>
        <p:nvSpPr>
          <p:cNvPr id="12" name="Text 10"/>
          <p:cNvSpPr txBox="1"/>
          <p:nvPr/>
        </p:nvSpPr>
        <p:spPr>
          <a:xfrm>
            <a:off x="2514600" y="4178808"/>
            <a:ext cx="4480560" cy="731520"/>
          </a:xfrm>
          <a:prstGeom prst="rect">
            <a:avLst/>
          </a:prstGeom>
          <a:noFill/>
          <a:ln/>
        </p:spPr>
        <p:txBody>
          <a:bodyPr wrap="square" lIns="0" tIns="0" rIns="0" bIns="0" rtlCol="0" anchor="t"/>
          <a:lstStyle/>
          <a:p>
            <a:pPr indent="0" marL="0">
              <a:lnSpc>
                <a:spcPct val="116000"/>
              </a:lnSpc>
              <a:buNone/>
            </a:pPr>
            <a:r>
              <a:rPr lang="en-US" sz="1200" dirty="0">
                <a:solidFill>
                  <a:srgbClr val="DCE8E2"/>
                </a:solidFill>
                <a:latin typeface="Calibri" pitchFamily="34" charset="0"/>
                <a:ea typeface="Calibri" pitchFamily="34" charset="-122"/>
                <a:cs typeface="Calibri" pitchFamily="34" charset="-120"/>
              </a:rPr>
              <a:t>The reward pool and the pilot’s running costs — the only place real money is needed to prove the loop.</a:t>
            </a:r>
            <a:endParaRPr lang="en-US" sz="1200" dirty="0"/>
          </a:p>
        </p:txBody>
      </p:sp>
      <p:sp>
        <p:nvSpPr>
          <p:cNvPr id="13" name="Shape 11"/>
          <p:cNvSpPr/>
          <p:nvPr/>
        </p:nvSpPr>
        <p:spPr>
          <a:xfrm>
            <a:off x="685800" y="4946904"/>
            <a:ext cx="6309360" cy="10058"/>
          </a:xfrm>
          <a:prstGeom prst="rect">
            <a:avLst/>
          </a:prstGeom>
          <a:solidFill>
            <a:srgbClr val="2C3B34"/>
          </a:solidFill>
          <a:ln/>
        </p:spPr>
      </p:sp>
      <p:sp>
        <p:nvSpPr>
          <p:cNvPr id="14" name="Text 12"/>
          <p:cNvSpPr txBox="1"/>
          <p:nvPr/>
        </p:nvSpPr>
        <p:spPr>
          <a:xfrm>
            <a:off x="7498080" y="2286000"/>
            <a:ext cx="4023360" cy="457200"/>
          </a:xfrm>
          <a:prstGeom prst="rect">
            <a:avLst/>
          </a:prstGeom>
          <a:noFill/>
          <a:ln/>
        </p:spPr>
        <p:txBody>
          <a:bodyPr wrap="square" lIns="0" tIns="0" rIns="0" bIns="0" rtlCol="0" anchor="t"/>
          <a:lstStyle/>
          <a:p>
            <a:pPr indent="0" marL="0">
              <a:buNone/>
            </a:pPr>
            <a:r>
              <a:rPr lang="en-US" sz="2200" dirty="0">
                <a:solidFill>
                  <a:srgbClr val="F7FAF8"/>
                </a:solidFill>
                <a:latin typeface="Cambria" pitchFamily="34" charset="0"/>
                <a:ea typeface="Cambria" pitchFamily="34" charset="-122"/>
                <a:cs typeface="Cambria" pitchFamily="34" charset="-120"/>
              </a:rPr>
              <a:t>Everything else is built.</a:t>
            </a:r>
            <a:endParaRPr lang="en-US" sz="2200" dirty="0"/>
          </a:p>
        </p:txBody>
      </p:sp>
      <p:sp>
        <p:nvSpPr>
          <p:cNvPr id="15" name="Text 13"/>
          <p:cNvSpPr txBox="1"/>
          <p:nvPr/>
        </p:nvSpPr>
        <p:spPr>
          <a:xfrm>
            <a:off x="7498080" y="3063240"/>
            <a:ext cx="4023360" cy="1005840"/>
          </a:xfrm>
          <a:prstGeom prst="rect">
            <a:avLst/>
          </a:prstGeom>
          <a:noFill/>
          <a:ln/>
        </p:spPr>
        <p:txBody>
          <a:bodyPr wrap="square" lIns="0" tIns="0" rIns="0" bIns="0" rtlCol="0" anchor="t"/>
          <a:lstStyle/>
          <a:p>
            <a:pPr indent="0" marL="0">
              <a:lnSpc>
                <a:spcPct val="132000"/>
              </a:lnSpc>
              <a:buNone/>
            </a:pPr>
            <a:r>
              <a:rPr lang="en-US" sz="1300" b="1" dirty="0">
                <a:solidFill>
                  <a:srgbClr val="E4A11B"/>
                </a:solidFill>
                <a:latin typeface="Calibri" pitchFamily="34" charset="0"/>
                <a:ea typeface="Calibri" pitchFamily="34" charset="-122"/>
                <a:cs typeface="Calibri" pitchFamily="34" charset="-120"/>
              </a:rPr>
              <a:t>Arnish</a:t>
            </a:r>
            <a:endParaRPr lang="en-US" sz="1300" dirty="0"/>
          </a:p>
          <a:p>
            <a:pPr indent="0" marL="0">
              <a:lnSpc>
                <a:spcPct val="132000"/>
              </a:lnSpc>
              <a:buNone/>
            </a:pPr>
            <a:r>
              <a:rPr lang="en-US" sz="1300" dirty="0">
                <a:solidFill>
                  <a:srgbClr val="F7FAF8"/>
                </a:solidFill>
                <a:latin typeface="Calibri" pitchFamily="34" charset="0"/>
                <a:ea typeface="Calibri" pitchFamily="34" charset="-122"/>
                <a:cs typeface="Calibri" pitchFamily="34" charset="-120"/>
              </a:rPr>
              <a:t>Lamppost</a:t>
            </a:r>
            <a:endParaRPr lang="en-US" sz="1300" dirty="0"/>
          </a:p>
          <a:p>
            <a:pPr indent="0" marL="0">
              <a:lnSpc>
                <a:spcPct val="132000"/>
              </a:lnSpc>
              <a:buNone/>
            </a:pPr>
            <a:r>
              <a:rPr lang="en-US" sz="1300" dirty="0">
                <a:solidFill>
                  <a:srgbClr val="F7FAF8"/>
                </a:solidFill>
                <a:latin typeface="Calibri" pitchFamily="34" charset="0"/>
                <a:ea typeface="Calibri" pitchFamily="34" charset="-122"/>
                <a:cs typeface="Calibri" pitchFamily="34" charset="-120"/>
              </a:rPr>
              <a:t>arnish@lamppost.org.bd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Lamppost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Chokro</dc:title>
  <dc:subject>PptxGenJS Presentation</dc:subject>
  <dc:creator>Arnish</dc:creator>
  <cp:lastModifiedBy>Arnish</cp:lastModifiedBy>
  <cp:revision>1</cp:revision>
  <dcterms:created xsi:type="dcterms:W3CDTF">2026-08-26T11:19:33Z</dcterms:created>
  <dcterms:modified xsi:type="dcterms:W3CDTF">2026-08-26T11:19:33Z</dcterms:modified>
</cp:coreProperties>
</file>